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sldIdLst>
    <p:sldId id="257" r:id="rId2"/>
    <p:sldId id="260" r:id="rId3"/>
    <p:sldId id="262" r:id="rId4"/>
    <p:sldId id="263" r:id="rId5"/>
    <p:sldId id="265" r:id="rId6"/>
    <p:sldId id="269" r:id="rId7"/>
    <p:sldId id="270" r:id="rId8"/>
    <p:sldId id="271" r:id="rId9"/>
    <p:sldId id="276" r:id="rId10"/>
    <p:sldId id="278" r:id="rId11"/>
    <p:sldId id="279" r:id="rId12"/>
    <p:sldId id="281" r:id="rId13"/>
    <p:sldId id="280" r:id="rId14"/>
    <p:sldId id="284" r:id="rId15"/>
    <p:sldId id="286" r:id="rId16"/>
    <p:sldId id="283" r:id="rId17"/>
    <p:sldId id="287" r:id="rId18"/>
    <p:sldId id="289" r:id="rId19"/>
    <p:sldId id="288" r:id="rId20"/>
    <p:sldId id="274" r:id="rId21"/>
    <p:sldId id="261" r:id="rId22"/>
    <p:sldId id="25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3" autoAdjust="0"/>
    <p:restoredTop sz="94660"/>
  </p:normalViewPr>
  <p:slideViewPr>
    <p:cSldViewPr snapToGrid="0">
      <p:cViewPr varScale="1">
        <p:scale>
          <a:sx n="114" d="100"/>
          <a:sy n="114" d="100"/>
        </p:scale>
        <p:origin x="18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5/11/2021</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8331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5/11/2021</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92670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5/11/2021</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4162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5/11/2021</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663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5/11/2021</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681946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5/11/2021</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18605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5/11/2021</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01422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5/11/2021</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93328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5/11/2021</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23267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7D5506EE-1026-4F35-9ACC-BD05BE0F9B36}"/>
              </a:ext>
            </a:extLst>
          </p:cNvPr>
          <p:cNvSpPr>
            <a:spLocks noGrp="1"/>
          </p:cNvSpPr>
          <p:nvPr>
            <p:ph type="dt" sz="half" idx="10"/>
          </p:nvPr>
        </p:nvSpPr>
        <p:spPr/>
        <p:txBody>
          <a:bodyPr/>
          <a:lstStyle/>
          <a:p>
            <a:fld id="{B612A279-0833-481D-8C56-F67FD0AC6C50}" type="datetime1">
              <a:rPr lang="en-US" smtClean="0"/>
              <a:t>5/11/2021</a:t>
            </a:fld>
            <a:endParaRPr lang="en-US" dirty="0"/>
          </a:p>
        </p:txBody>
      </p:sp>
      <p:sp>
        <p:nvSpPr>
          <p:cNvPr id="8" name="Footer Placeholder 7">
            <a:extLst>
              <a:ext uri="{FF2B5EF4-FFF2-40B4-BE49-F238E27FC236}">
                <a16:creationId xmlns:a16="http://schemas.microsoft.com/office/drawing/2014/main" id="{B7696E5F-8D95-4450-AE52-5438E6EDE2B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99B2253-74CC-409E-BEB0-F8EFCFCB562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72269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1B68A5B-D9FA-424B-A4EB-30E7223836B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AF33D6B0-F070-45C4-A472-19F432BE3932}"/>
              </a:ext>
            </a:extLst>
          </p:cNvPr>
          <p:cNvSpPr>
            <a:spLocks noGrp="1"/>
          </p:cNvSpPr>
          <p:nvPr>
            <p:ph type="dt" sz="half" idx="10"/>
          </p:nvPr>
        </p:nvSpPr>
        <p:spPr/>
        <p:txBody>
          <a:bodyPr/>
          <a:lstStyle/>
          <a:p>
            <a:fld id="{6587DA83-5663-4C9C-B9AA-0B40A3DAFF81}" type="datetime1">
              <a:rPr lang="en-US" smtClean="0"/>
              <a:t>5/11/2021</a:t>
            </a:fld>
            <a:endParaRPr lang="en-US" dirty="0"/>
          </a:p>
        </p:txBody>
      </p:sp>
      <p:sp>
        <p:nvSpPr>
          <p:cNvPr id="8" name="Footer Placeholder 7">
            <a:extLst>
              <a:ext uri="{FF2B5EF4-FFF2-40B4-BE49-F238E27FC236}">
                <a16:creationId xmlns:a16="http://schemas.microsoft.com/office/drawing/2014/main" id="{9975399F-DAB2-410D-967F-ED17E6F796E7}"/>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762A46F-6BE5-4D12-9412-5CA7672EA8EC}"/>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1827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5/11/2021</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4982234"/>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47" r:id="rId3"/>
    <p:sldLayoutId id="2147483743" r:id="rId4"/>
    <p:sldLayoutId id="2147483738" r:id="rId5"/>
    <p:sldLayoutId id="2147483732" r:id="rId6"/>
    <p:sldLayoutId id="2147483733" r:id="rId7"/>
    <p:sldLayoutId id="2147483734" r:id="rId8"/>
    <p:sldLayoutId id="2147483735" r:id="rId9"/>
    <p:sldLayoutId id="2147483736" r:id="rId10"/>
    <p:sldLayoutId id="2147483737"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FD68DA-43BA-4508-8DE2-BA9BB7B2FA5B}"/>
              </a:ext>
            </a:extLst>
          </p:cNvPr>
          <p:cNvSpPr>
            <a:spLocks noGrp="1"/>
          </p:cNvSpPr>
          <p:nvPr>
            <p:ph type="ctrTitle"/>
          </p:nvPr>
        </p:nvSpPr>
        <p:spPr>
          <a:xfrm>
            <a:off x="5289754" y="1916129"/>
            <a:ext cx="6324177" cy="1229710"/>
          </a:xfrm>
        </p:spPr>
        <p:txBody>
          <a:bodyPr>
            <a:normAutofit/>
          </a:bodyPr>
          <a:lstStyle/>
          <a:p>
            <a:r>
              <a:rPr lang="en-US" altLang="zh-CN" sz="4000"/>
              <a:t>STAT 426 Project 2</a:t>
            </a:r>
            <a:br>
              <a:rPr lang="en-US" altLang="zh-CN" sz="4000" dirty="0"/>
            </a:br>
            <a:endParaRPr lang="en-US" sz="4000" dirty="0"/>
          </a:p>
        </p:txBody>
      </p:sp>
      <p:pic>
        <p:nvPicPr>
          <p:cNvPr id="5" name="Picture 4" descr="A picture containing building, sitting, bench, side&#10;&#10;Description automatically generated">
            <a:extLst>
              <a:ext uri="{FF2B5EF4-FFF2-40B4-BE49-F238E27FC236}">
                <a16:creationId xmlns:a16="http://schemas.microsoft.com/office/drawing/2014/main" id="{282CF6DD-7FE8-4063-9551-1B7BBCE92ABE}"/>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1" y="1"/>
            <a:ext cx="4635315" cy="6857999"/>
          </a:xfrm>
          <a:prstGeom prst="rect">
            <a:avLst/>
          </a:prstGeom>
        </p:spPr>
      </p:pic>
      <p:cxnSp>
        <p:nvCxnSpPr>
          <p:cNvPr id="24" name="Straight Connector 23">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B2F63A9-8100-485A-9DFE-B287A89F71C0}"/>
              </a:ext>
            </a:extLst>
          </p:cNvPr>
          <p:cNvSpPr txBox="1"/>
          <p:nvPr/>
        </p:nvSpPr>
        <p:spPr>
          <a:xfrm>
            <a:off x="5289754" y="4955167"/>
            <a:ext cx="5774107" cy="369332"/>
          </a:xfrm>
          <a:prstGeom prst="rect">
            <a:avLst/>
          </a:prstGeom>
          <a:noFill/>
        </p:spPr>
        <p:txBody>
          <a:bodyPr wrap="square" rtlCol="0">
            <a:spAutoFit/>
          </a:bodyPr>
          <a:lstStyle/>
          <a:p>
            <a:r>
              <a:rPr lang="en-US" dirty="0"/>
              <a:t>Shuyu Jia (shuyuj2)</a:t>
            </a:r>
          </a:p>
        </p:txBody>
      </p:sp>
      <p:sp>
        <p:nvSpPr>
          <p:cNvPr id="6" name="TextBox 5">
            <a:extLst>
              <a:ext uri="{FF2B5EF4-FFF2-40B4-BE49-F238E27FC236}">
                <a16:creationId xmlns:a16="http://schemas.microsoft.com/office/drawing/2014/main" id="{FCD6BE0C-2EDC-46A7-B066-CBE36756B257}"/>
              </a:ext>
            </a:extLst>
          </p:cNvPr>
          <p:cNvSpPr txBox="1"/>
          <p:nvPr/>
        </p:nvSpPr>
        <p:spPr>
          <a:xfrm>
            <a:off x="5289754" y="3492468"/>
            <a:ext cx="6324177" cy="769441"/>
          </a:xfrm>
          <a:prstGeom prst="rect">
            <a:avLst/>
          </a:prstGeom>
          <a:noFill/>
        </p:spPr>
        <p:txBody>
          <a:bodyPr wrap="square" rtlCol="0">
            <a:spAutoFit/>
          </a:bodyPr>
          <a:lstStyle/>
          <a:p>
            <a:r>
              <a:rPr lang="en-US" altLang="zh-CN" sz="4400" dirty="0"/>
              <a:t>Low Birthweight Analysis</a:t>
            </a:r>
            <a:endParaRPr lang="en-US" sz="4400" dirty="0"/>
          </a:p>
        </p:txBody>
      </p:sp>
    </p:spTree>
    <p:extLst>
      <p:ext uri="{BB962C8B-B14F-4D97-AF65-F5344CB8AC3E}">
        <p14:creationId xmlns:p14="http://schemas.microsoft.com/office/powerpoint/2010/main" val="40437378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45A7E-5042-4474-9434-50CE73A3397E}"/>
              </a:ext>
            </a:extLst>
          </p:cNvPr>
          <p:cNvSpPr>
            <a:spLocks noGrp="1"/>
          </p:cNvSpPr>
          <p:nvPr>
            <p:ph type="title"/>
          </p:nvPr>
        </p:nvSpPr>
        <p:spPr/>
        <p:txBody>
          <a:bodyPr/>
          <a:lstStyle/>
          <a:p>
            <a:r>
              <a:rPr lang="en-US" dirty="0"/>
              <a:t>1. Introduction</a:t>
            </a:r>
          </a:p>
        </p:txBody>
      </p:sp>
      <p:sp>
        <p:nvSpPr>
          <p:cNvPr id="3" name="Content Placeholder 2">
            <a:extLst>
              <a:ext uri="{FF2B5EF4-FFF2-40B4-BE49-F238E27FC236}">
                <a16:creationId xmlns:a16="http://schemas.microsoft.com/office/drawing/2014/main" id="{443FDB90-F821-415E-92D3-929068365C7D}"/>
              </a:ext>
            </a:extLst>
          </p:cNvPr>
          <p:cNvSpPr>
            <a:spLocks noGrp="1"/>
          </p:cNvSpPr>
          <p:nvPr>
            <p:ph idx="1"/>
          </p:nvPr>
        </p:nvSpPr>
        <p:spPr/>
        <p:txBody>
          <a:bodyPr>
            <a:normAutofit lnSpcReduction="10000"/>
          </a:bodyPr>
          <a:lstStyle/>
          <a:p>
            <a:pPr>
              <a:buFont typeface="Wingdings" panose="05000000000000000000" pitchFamily="2" charset="2"/>
              <a:buChar char="v"/>
            </a:pPr>
            <a:r>
              <a:rPr lang="en-US" dirty="0"/>
              <a:t> Low birthweight is when a baby is born weighing less than 5 pounds, 8 ounces (2.5 kg)</a:t>
            </a:r>
          </a:p>
          <a:p>
            <a:pPr>
              <a:buFont typeface="Wingdings" panose="05000000000000000000" pitchFamily="2" charset="2"/>
              <a:buChar char="v"/>
            </a:pPr>
            <a:r>
              <a:rPr lang="en-US" dirty="0"/>
              <a:t> Being low birthweight can cause health problems for some babies</a:t>
            </a:r>
          </a:p>
          <a:p>
            <a:pPr>
              <a:buFont typeface="Wingdings" panose="05000000000000000000" pitchFamily="2" charset="2"/>
              <a:buChar char="v"/>
            </a:pPr>
            <a:r>
              <a:rPr lang="en-US" dirty="0"/>
              <a:t> About 1 in 12 babies (about 8%) in the US is born with low birthweight</a:t>
            </a:r>
          </a:p>
          <a:p>
            <a:pPr>
              <a:buFont typeface="Wingdings" panose="05000000000000000000" pitchFamily="2" charset="2"/>
              <a:buChar char="v"/>
            </a:pPr>
            <a:r>
              <a:rPr lang="en-US" dirty="0"/>
              <a:t> Two main reasons for low birthweight:</a:t>
            </a:r>
          </a:p>
          <a:p>
            <a:pPr lvl="1">
              <a:buFont typeface="Wingdings" panose="05000000000000000000" pitchFamily="2" charset="2"/>
              <a:buChar char="v"/>
            </a:pPr>
            <a:r>
              <a:rPr lang="en-US" dirty="0"/>
              <a:t> Premature birth</a:t>
            </a:r>
          </a:p>
          <a:p>
            <a:pPr lvl="1">
              <a:buFont typeface="Wingdings" panose="05000000000000000000" pitchFamily="2" charset="2"/>
              <a:buChar char="v"/>
            </a:pPr>
            <a:r>
              <a:rPr lang="en-US" dirty="0"/>
              <a:t> Fatal growth restriction (FGR)</a:t>
            </a:r>
          </a:p>
          <a:p>
            <a:pPr>
              <a:buFont typeface="Wingdings" panose="05000000000000000000" pitchFamily="2" charset="2"/>
              <a:buChar char="v"/>
            </a:pPr>
            <a:r>
              <a:rPr lang="en-US" dirty="0"/>
              <a:t> Main goal for this project</a:t>
            </a:r>
          </a:p>
          <a:p>
            <a:pPr lvl="1">
              <a:buFont typeface="Wingdings" panose="05000000000000000000" pitchFamily="2" charset="2"/>
              <a:buChar char="v"/>
            </a:pPr>
            <a:r>
              <a:rPr lang="en-US" dirty="0"/>
              <a:t> Find out factors that are associated with low infant birthweight</a:t>
            </a:r>
          </a:p>
          <a:p>
            <a:pPr lvl="1">
              <a:buFont typeface="Wingdings" panose="05000000000000000000" pitchFamily="2" charset="2"/>
              <a:buChar char="v"/>
            </a:pPr>
            <a:r>
              <a:rPr lang="en-US" dirty="0"/>
              <a:t> Predict low birthweight</a:t>
            </a:r>
          </a:p>
          <a:p>
            <a:pPr lvl="1">
              <a:buFont typeface="Wingdings" panose="05000000000000000000" pitchFamily="2" charset="2"/>
              <a:buChar char="v"/>
            </a:pPr>
            <a:endParaRPr lang="en-US" dirty="0"/>
          </a:p>
          <a:p>
            <a:endParaRPr lang="en-US" dirty="0"/>
          </a:p>
        </p:txBody>
      </p:sp>
    </p:spTree>
    <p:extLst>
      <p:ext uri="{BB962C8B-B14F-4D97-AF65-F5344CB8AC3E}">
        <p14:creationId xmlns:p14="http://schemas.microsoft.com/office/powerpoint/2010/main" val="21825274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09948-AA0A-46EC-B108-090FC8A2E0B8}"/>
              </a:ext>
            </a:extLst>
          </p:cNvPr>
          <p:cNvSpPr>
            <a:spLocks noGrp="1"/>
          </p:cNvSpPr>
          <p:nvPr>
            <p:ph type="title"/>
          </p:nvPr>
        </p:nvSpPr>
        <p:spPr/>
        <p:txBody>
          <a:bodyPr/>
          <a:lstStyle/>
          <a:p>
            <a:r>
              <a:rPr lang="en-US" dirty="0"/>
              <a:t>2. Data</a:t>
            </a:r>
          </a:p>
        </p:txBody>
      </p:sp>
      <p:sp>
        <p:nvSpPr>
          <p:cNvPr id="3" name="Content Placeholder 2">
            <a:extLst>
              <a:ext uri="{FF2B5EF4-FFF2-40B4-BE49-F238E27FC236}">
                <a16:creationId xmlns:a16="http://schemas.microsoft.com/office/drawing/2014/main" id="{DD5B573F-573F-4033-A3DE-D201A7BC125E}"/>
              </a:ext>
            </a:extLst>
          </p:cNvPr>
          <p:cNvSpPr>
            <a:spLocks noGrp="1"/>
          </p:cNvSpPr>
          <p:nvPr>
            <p:ph idx="1"/>
          </p:nvPr>
        </p:nvSpPr>
        <p:spPr/>
        <p:txBody>
          <a:bodyPr>
            <a:normAutofit fontScale="85000" lnSpcReduction="20000"/>
          </a:bodyPr>
          <a:lstStyle/>
          <a:p>
            <a:pPr>
              <a:buFont typeface="Wingdings" panose="05000000000000000000" pitchFamily="2" charset="2"/>
              <a:buChar char="v"/>
            </a:pPr>
            <a:r>
              <a:rPr lang="en-US" dirty="0"/>
              <a:t> The dataset includes birthweights and 9 other variables for 189 births</a:t>
            </a:r>
          </a:p>
          <a:p>
            <a:pPr>
              <a:buFont typeface="Wingdings" panose="05000000000000000000" pitchFamily="2" charset="2"/>
              <a:buChar char="v"/>
            </a:pPr>
            <a:r>
              <a:rPr lang="en-US" dirty="0"/>
              <a:t> Continuous variables: </a:t>
            </a:r>
          </a:p>
          <a:p>
            <a:pPr lvl="1">
              <a:buFont typeface="Wingdings" panose="05000000000000000000" pitchFamily="2" charset="2"/>
              <a:buChar char="v"/>
            </a:pPr>
            <a:r>
              <a:rPr lang="en-US" dirty="0"/>
              <a:t> mother's age in years (age)</a:t>
            </a:r>
          </a:p>
          <a:p>
            <a:pPr lvl="1">
              <a:buFont typeface="Wingdings" panose="05000000000000000000" pitchFamily="2" charset="2"/>
              <a:buChar char="v"/>
            </a:pPr>
            <a:r>
              <a:rPr lang="en-US" dirty="0"/>
              <a:t> mother's weight in pounds (</a:t>
            </a:r>
            <a:r>
              <a:rPr lang="en-US" dirty="0" err="1"/>
              <a:t>lwt</a:t>
            </a:r>
            <a:r>
              <a:rPr lang="en-US" dirty="0"/>
              <a:t>)</a:t>
            </a:r>
          </a:p>
          <a:p>
            <a:pPr lvl="1">
              <a:buFont typeface="Wingdings" panose="05000000000000000000" pitchFamily="2" charset="2"/>
              <a:buChar char="v"/>
            </a:pPr>
            <a:r>
              <a:rPr lang="en-US" dirty="0"/>
              <a:t> birth weight in grams (</a:t>
            </a:r>
            <a:r>
              <a:rPr lang="en-US" dirty="0" err="1"/>
              <a:t>bwt</a:t>
            </a:r>
            <a:r>
              <a:rPr lang="en-US" dirty="0"/>
              <a:t>)</a:t>
            </a:r>
          </a:p>
          <a:p>
            <a:pPr>
              <a:buFont typeface="Wingdings" panose="05000000000000000000" pitchFamily="2" charset="2"/>
              <a:buChar char="v"/>
            </a:pPr>
            <a:r>
              <a:rPr lang="en-US" dirty="0"/>
              <a:t> Categorical variables:</a:t>
            </a:r>
          </a:p>
          <a:p>
            <a:pPr lvl="1">
              <a:buFont typeface="Wingdings" panose="05000000000000000000" pitchFamily="2" charset="2"/>
              <a:buChar char="v"/>
            </a:pPr>
            <a:r>
              <a:rPr lang="en-US" dirty="0"/>
              <a:t> indicator of birth weights less than 2.5 kg (low) --- binary</a:t>
            </a:r>
          </a:p>
          <a:p>
            <a:pPr lvl="1">
              <a:buFont typeface="Wingdings" panose="05000000000000000000" pitchFamily="2" charset="2"/>
              <a:buChar char="v"/>
            </a:pPr>
            <a:r>
              <a:rPr lang="en-US" dirty="0"/>
              <a:t> smoking status during pregnancy (smoke) --- binary</a:t>
            </a:r>
          </a:p>
          <a:p>
            <a:pPr lvl="1">
              <a:buFont typeface="Wingdings" panose="05000000000000000000" pitchFamily="2" charset="2"/>
              <a:buChar char="v"/>
            </a:pPr>
            <a:r>
              <a:rPr lang="en-US" dirty="0"/>
              <a:t> history of hypertension (</a:t>
            </a:r>
            <a:r>
              <a:rPr lang="en-US" dirty="0" err="1"/>
              <a:t>ht</a:t>
            </a:r>
            <a:r>
              <a:rPr lang="en-US" dirty="0"/>
              <a:t>) --- binary</a:t>
            </a:r>
          </a:p>
          <a:p>
            <a:pPr lvl="1">
              <a:buFont typeface="Wingdings" panose="05000000000000000000" pitchFamily="2" charset="2"/>
              <a:buChar char="v"/>
            </a:pPr>
            <a:r>
              <a:rPr lang="en-US" dirty="0"/>
              <a:t> presence of uterine irritability (</a:t>
            </a:r>
            <a:r>
              <a:rPr lang="en-US" dirty="0" err="1"/>
              <a:t>ui</a:t>
            </a:r>
            <a:r>
              <a:rPr lang="en-US" dirty="0"/>
              <a:t>) --- binary</a:t>
            </a:r>
          </a:p>
          <a:p>
            <a:pPr lvl="1">
              <a:buFont typeface="Wingdings" panose="05000000000000000000" pitchFamily="2" charset="2"/>
              <a:buChar char="v"/>
            </a:pPr>
            <a:r>
              <a:rPr lang="en-US" dirty="0"/>
              <a:t> number of previous premature </a:t>
            </a:r>
            <a:r>
              <a:rPr lang="en-US" dirty="0" err="1"/>
              <a:t>labours</a:t>
            </a:r>
            <a:r>
              <a:rPr lang="en-US" dirty="0"/>
              <a:t> (</a:t>
            </a:r>
            <a:r>
              <a:rPr lang="en-US" dirty="0" err="1"/>
              <a:t>ptl</a:t>
            </a:r>
            <a:r>
              <a:rPr lang="en-US" dirty="0"/>
              <a:t>) --- ordinal</a:t>
            </a:r>
          </a:p>
          <a:p>
            <a:pPr lvl="1">
              <a:buFont typeface="Wingdings" panose="05000000000000000000" pitchFamily="2" charset="2"/>
              <a:buChar char="v"/>
            </a:pPr>
            <a:r>
              <a:rPr lang="en-US" dirty="0"/>
              <a:t> number of physician visits during the first trimester (</a:t>
            </a:r>
            <a:r>
              <a:rPr lang="en-US" dirty="0" err="1"/>
              <a:t>ftv</a:t>
            </a:r>
            <a:r>
              <a:rPr lang="en-US" dirty="0"/>
              <a:t>) --- ordinal</a:t>
            </a:r>
          </a:p>
          <a:p>
            <a:pPr lvl="1">
              <a:buFont typeface="Wingdings" panose="05000000000000000000" pitchFamily="2" charset="2"/>
              <a:buChar char="v"/>
            </a:pPr>
            <a:r>
              <a:rPr lang="en-US" dirty="0"/>
              <a:t> mother's race (race) --- nominal</a:t>
            </a:r>
          </a:p>
        </p:txBody>
      </p:sp>
    </p:spTree>
    <p:extLst>
      <p:ext uri="{BB962C8B-B14F-4D97-AF65-F5344CB8AC3E}">
        <p14:creationId xmlns:p14="http://schemas.microsoft.com/office/powerpoint/2010/main" val="146683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60B37-DD17-4C0F-9260-C8E88A6EFFF1}"/>
              </a:ext>
            </a:extLst>
          </p:cNvPr>
          <p:cNvSpPr>
            <a:spLocks noGrp="1"/>
          </p:cNvSpPr>
          <p:nvPr>
            <p:ph type="title"/>
          </p:nvPr>
        </p:nvSpPr>
        <p:spPr/>
        <p:txBody>
          <a:bodyPr/>
          <a:lstStyle/>
          <a:p>
            <a:r>
              <a:rPr lang="en-US" dirty="0"/>
              <a:t>Continuous variables</a:t>
            </a:r>
          </a:p>
        </p:txBody>
      </p:sp>
      <p:pic>
        <p:nvPicPr>
          <p:cNvPr id="13" name="Picture 12" descr="Chart, box and whisker chart&#10;&#10;Description automatically generated">
            <a:extLst>
              <a:ext uri="{FF2B5EF4-FFF2-40B4-BE49-F238E27FC236}">
                <a16:creationId xmlns:a16="http://schemas.microsoft.com/office/drawing/2014/main" id="{5C697C58-7927-4A4C-9556-E9C3341B10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699" y="1921272"/>
            <a:ext cx="5840824" cy="4480847"/>
          </a:xfrm>
          <a:prstGeom prst="rect">
            <a:avLst/>
          </a:prstGeom>
        </p:spPr>
      </p:pic>
      <p:graphicFrame>
        <p:nvGraphicFramePr>
          <p:cNvPr id="14" name="Table 14">
            <a:extLst>
              <a:ext uri="{FF2B5EF4-FFF2-40B4-BE49-F238E27FC236}">
                <a16:creationId xmlns:a16="http://schemas.microsoft.com/office/drawing/2014/main" id="{F30422AD-2399-44EF-8E5F-D2EAD951094F}"/>
              </a:ext>
            </a:extLst>
          </p:cNvPr>
          <p:cNvGraphicFramePr>
            <a:graphicFrameLocks noGrp="1"/>
          </p:cNvGraphicFramePr>
          <p:nvPr>
            <p:extLst>
              <p:ext uri="{D42A27DB-BD31-4B8C-83A1-F6EECF244321}">
                <p14:modId xmlns:p14="http://schemas.microsoft.com/office/powerpoint/2010/main" val="3228483141"/>
              </p:ext>
            </p:extLst>
          </p:nvPr>
        </p:nvGraphicFramePr>
        <p:xfrm>
          <a:off x="402672" y="2431738"/>
          <a:ext cx="5343788" cy="3017520"/>
        </p:xfrm>
        <a:graphic>
          <a:graphicData uri="http://schemas.openxmlformats.org/drawingml/2006/table">
            <a:tbl>
              <a:tblPr firstRow="1" bandRow="1">
                <a:tableStyleId>{5C22544A-7EE6-4342-B048-85BDC9FD1C3A}</a:tableStyleId>
              </a:tblPr>
              <a:tblGrid>
                <a:gridCol w="1335947">
                  <a:extLst>
                    <a:ext uri="{9D8B030D-6E8A-4147-A177-3AD203B41FA5}">
                      <a16:colId xmlns:a16="http://schemas.microsoft.com/office/drawing/2014/main" val="759265017"/>
                    </a:ext>
                  </a:extLst>
                </a:gridCol>
                <a:gridCol w="1335947">
                  <a:extLst>
                    <a:ext uri="{9D8B030D-6E8A-4147-A177-3AD203B41FA5}">
                      <a16:colId xmlns:a16="http://schemas.microsoft.com/office/drawing/2014/main" val="3844107053"/>
                    </a:ext>
                  </a:extLst>
                </a:gridCol>
                <a:gridCol w="1335947">
                  <a:extLst>
                    <a:ext uri="{9D8B030D-6E8A-4147-A177-3AD203B41FA5}">
                      <a16:colId xmlns:a16="http://schemas.microsoft.com/office/drawing/2014/main" val="847624922"/>
                    </a:ext>
                  </a:extLst>
                </a:gridCol>
                <a:gridCol w="1335947">
                  <a:extLst>
                    <a:ext uri="{9D8B030D-6E8A-4147-A177-3AD203B41FA5}">
                      <a16:colId xmlns:a16="http://schemas.microsoft.com/office/drawing/2014/main" val="2352475200"/>
                    </a:ext>
                  </a:extLst>
                </a:gridCol>
              </a:tblGrid>
              <a:tr h="660031">
                <a:tc>
                  <a:txBody>
                    <a:bodyPr/>
                    <a:lstStyle/>
                    <a:p>
                      <a:pPr algn="ctr"/>
                      <a:endParaRPr lang="en-US" sz="1600" dirty="0"/>
                    </a:p>
                  </a:txBody>
                  <a:tcPr/>
                </a:tc>
                <a:tc>
                  <a:txBody>
                    <a:bodyPr/>
                    <a:lstStyle/>
                    <a:p>
                      <a:pPr algn="ctr"/>
                      <a:r>
                        <a:rPr lang="en-US" sz="1800" dirty="0"/>
                        <a:t>Mother’s age (year)</a:t>
                      </a:r>
                    </a:p>
                  </a:txBody>
                  <a:tcPr/>
                </a:tc>
                <a:tc>
                  <a:txBody>
                    <a:bodyPr/>
                    <a:lstStyle/>
                    <a:p>
                      <a:pPr algn="ctr"/>
                      <a:r>
                        <a:rPr lang="en-US" sz="1600" dirty="0"/>
                        <a:t>Mother’s weight (pounds)</a:t>
                      </a:r>
                    </a:p>
                  </a:txBody>
                  <a:tcPr/>
                </a:tc>
                <a:tc>
                  <a:txBody>
                    <a:bodyPr/>
                    <a:lstStyle/>
                    <a:p>
                      <a:pPr algn="ctr"/>
                      <a:r>
                        <a:rPr lang="en-US" sz="1800" dirty="0"/>
                        <a:t>Birth weight (grams)</a:t>
                      </a:r>
                    </a:p>
                  </a:txBody>
                  <a:tcPr/>
                </a:tc>
                <a:extLst>
                  <a:ext uri="{0D108BD9-81ED-4DB2-BD59-A6C34878D82A}">
                    <a16:rowId xmlns:a16="http://schemas.microsoft.com/office/drawing/2014/main" val="972273070"/>
                  </a:ext>
                </a:extLst>
              </a:tr>
              <a:tr h="293347">
                <a:tc>
                  <a:txBody>
                    <a:bodyPr/>
                    <a:lstStyle/>
                    <a:p>
                      <a:pPr algn="ctr"/>
                      <a:r>
                        <a:rPr lang="en-US" dirty="0"/>
                        <a:t>Min</a:t>
                      </a:r>
                    </a:p>
                  </a:txBody>
                  <a:tcPr/>
                </a:tc>
                <a:tc>
                  <a:txBody>
                    <a:bodyPr/>
                    <a:lstStyle/>
                    <a:p>
                      <a:pPr algn="ctr"/>
                      <a:r>
                        <a:rPr lang="en-US" dirty="0"/>
                        <a:t>14</a:t>
                      </a:r>
                    </a:p>
                  </a:txBody>
                  <a:tcPr/>
                </a:tc>
                <a:tc>
                  <a:txBody>
                    <a:bodyPr/>
                    <a:lstStyle/>
                    <a:p>
                      <a:pPr algn="ctr"/>
                      <a:r>
                        <a:rPr lang="en-US" dirty="0"/>
                        <a:t>80</a:t>
                      </a:r>
                    </a:p>
                  </a:txBody>
                  <a:tcPr/>
                </a:tc>
                <a:tc>
                  <a:txBody>
                    <a:bodyPr/>
                    <a:lstStyle/>
                    <a:p>
                      <a:pPr algn="ctr"/>
                      <a:r>
                        <a:rPr lang="en-US" dirty="0"/>
                        <a:t>709</a:t>
                      </a:r>
                    </a:p>
                  </a:txBody>
                  <a:tcPr/>
                </a:tc>
                <a:extLst>
                  <a:ext uri="{0D108BD9-81ED-4DB2-BD59-A6C34878D82A}">
                    <a16:rowId xmlns:a16="http://schemas.microsoft.com/office/drawing/2014/main" val="3822904643"/>
                  </a:ext>
                </a:extLst>
              </a:tr>
              <a:tr h="293347">
                <a:tc>
                  <a:txBody>
                    <a:bodyPr/>
                    <a:lstStyle/>
                    <a:p>
                      <a:pPr algn="ctr"/>
                      <a:r>
                        <a:rPr lang="en-US" dirty="0"/>
                        <a:t>1</a:t>
                      </a:r>
                      <a:r>
                        <a:rPr lang="en-US" baseline="30000" dirty="0"/>
                        <a:t>st</a:t>
                      </a:r>
                      <a:r>
                        <a:rPr lang="en-US" dirty="0"/>
                        <a:t> Quartile</a:t>
                      </a:r>
                    </a:p>
                  </a:txBody>
                  <a:tcPr/>
                </a:tc>
                <a:tc>
                  <a:txBody>
                    <a:bodyPr/>
                    <a:lstStyle/>
                    <a:p>
                      <a:pPr algn="ctr"/>
                      <a:r>
                        <a:rPr lang="en-US" dirty="0"/>
                        <a:t>19</a:t>
                      </a:r>
                    </a:p>
                  </a:txBody>
                  <a:tcPr/>
                </a:tc>
                <a:tc>
                  <a:txBody>
                    <a:bodyPr/>
                    <a:lstStyle/>
                    <a:p>
                      <a:pPr algn="ctr"/>
                      <a:r>
                        <a:rPr lang="en-US" dirty="0"/>
                        <a:t>110</a:t>
                      </a:r>
                    </a:p>
                  </a:txBody>
                  <a:tcPr/>
                </a:tc>
                <a:tc>
                  <a:txBody>
                    <a:bodyPr/>
                    <a:lstStyle/>
                    <a:p>
                      <a:pPr algn="ctr"/>
                      <a:r>
                        <a:rPr lang="en-US" dirty="0"/>
                        <a:t>2414</a:t>
                      </a:r>
                    </a:p>
                  </a:txBody>
                  <a:tcPr/>
                </a:tc>
                <a:extLst>
                  <a:ext uri="{0D108BD9-81ED-4DB2-BD59-A6C34878D82A}">
                    <a16:rowId xmlns:a16="http://schemas.microsoft.com/office/drawing/2014/main" val="4279065670"/>
                  </a:ext>
                </a:extLst>
              </a:tr>
              <a:tr h="293347">
                <a:tc>
                  <a:txBody>
                    <a:bodyPr/>
                    <a:lstStyle/>
                    <a:p>
                      <a:pPr algn="ctr"/>
                      <a:r>
                        <a:rPr lang="en-US" dirty="0"/>
                        <a:t>Median</a:t>
                      </a:r>
                    </a:p>
                  </a:txBody>
                  <a:tcPr/>
                </a:tc>
                <a:tc>
                  <a:txBody>
                    <a:bodyPr/>
                    <a:lstStyle/>
                    <a:p>
                      <a:pPr algn="ctr"/>
                      <a:r>
                        <a:rPr lang="en-US" dirty="0"/>
                        <a:t>23</a:t>
                      </a:r>
                    </a:p>
                  </a:txBody>
                  <a:tcPr/>
                </a:tc>
                <a:tc>
                  <a:txBody>
                    <a:bodyPr/>
                    <a:lstStyle/>
                    <a:p>
                      <a:pPr algn="ctr"/>
                      <a:r>
                        <a:rPr lang="en-US" dirty="0"/>
                        <a:t>121</a:t>
                      </a:r>
                    </a:p>
                  </a:txBody>
                  <a:tcPr/>
                </a:tc>
                <a:tc>
                  <a:txBody>
                    <a:bodyPr/>
                    <a:lstStyle/>
                    <a:p>
                      <a:pPr algn="ctr"/>
                      <a:r>
                        <a:rPr lang="en-US" dirty="0"/>
                        <a:t>2977</a:t>
                      </a:r>
                    </a:p>
                  </a:txBody>
                  <a:tcPr/>
                </a:tc>
                <a:extLst>
                  <a:ext uri="{0D108BD9-81ED-4DB2-BD59-A6C34878D82A}">
                    <a16:rowId xmlns:a16="http://schemas.microsoft.com/office/drawing/2014/main" val="636049199"/>
                  </a:ext>
                </a:extLst>
              </a:tr>
              <a:tr h="293347">
                <a:tc>
                  <a:txBody>
                    <a:bodyPr/>
                    <a:lstStyle/>
                    <a:p>
                      <a:pPr algn="ctr"/>
                      <a:r>
                        <a:rPr lang="en-US" dirty="0"/>
                        <a:t>Mean</a:t>
                      </a:r>
                    </a:p>
                  </a:txBody>
                  <a:tcPr/>
                </a:tc>
                <a:tc>
                  <a:txBody>
                    <a:bodyPr/>
                    <a:lstStyle/>
                    <a:p>
                      <a:pPr algn="ctr"/>
                      <a:r>
                        <a:rPr lang="en-US" dirty="0"/>
                        <a:t>23.24</a:t>
                      </a:r>
                    </a:p>
                  </a:txBody>
                  <a:tcPr/>
                </a:tc>
                <a:tc>
                  <a:txBody>
                    <a:bodyPr/>
                    <a:lstStyle/>
                    <a:p>
                      <a:pPr algn="ctr"/>
                      <a:r>
                        <a:rPr lang="en-US" dirty="0"/>
                        <a:t>129.8</a:t>
                      </a:r>
                    </a:p>
                  </a:txBody>
                  <a:tcPr/>
                </a:tc>
                <a:tc>
                  <a:txBody>
                    <a:bodyPr/>
                    <a:lstStyle/>
                    <a:p>
                      <a:pPr algn="ctr"/>
                      <a:r>
                        <a:rPr lang="en-US" dirty="0"/>
                        <a:t>2945</a:t>
                      </a:r>
                    </a:p>
                  </a:txBody>
                  <a:tcPr/>
                </a:tc>
                <a:extLst>
                  <a:ext uri="{0D108BD9-81ED-4DB2-BD59-A6C34878D82A}">
                    <a16:rowId xmlns:a16="http://schemas.microsoft.com/office/drawing/2014/main" val="17664292"/>
                  </a:ext>
                </a:extLst>
              </a:tr>
              <a:tr h="293347">
                <a:tc>
                  <a:txBody>
                    <a:bodyPr/>
                    <a:lstStyle/>
                    <a:p>
                      <a:pPr algn="ctr"/>
                      <a:r>
                        <a:rPr lang="en-US" dirty="0"/>
                        <a:t>3</a:t>
                      </a:r>
                      <a:r>
                        <a:rPr lang="en-US" baseline="30000" dirty="0"/>
                        <a:t>rd</a:t>
                      </a:r>
                      <a:r>
                        <a:rPr lang="en-US" dirty="0"/>
                        <a:t> Quartile</a:t>
                      </a:r>
                    </a:p>
                  </a:txBody>
                  <a:tcPr/>
                </a:tc>
                <a:tc>
                  <a:txBody>
                    <a:bodyPr/>
                    <a:lstStyle/>
                    <a:p>
                      <a:pPr algn="ctr"/>
                      <a:r>
                        <a:rPr lang="en-US" dirty="0"/>
                        <a:t>26</a:t>
                      </a:r>
                    </a:p>
                  </a:txBody>
                  <a:tcPr/>
                </a:tc>
                <a:tc>
                  <a:txBody>
                    <a:bodyPr/>
                    <a:lstStyle/>
                    <a:p>
                      <a:pPr algn="ctr"/>
                      <a:r>
                        <a:rPr lang="en-US" dirty="0"/>
                        <a:t>140</a:t>
                      </a:r>
                    </a:p>
                  </a:txBody>
                  <a:tcPr/>
                </a:tc>
                <a:tc>
                  <a:txBody>
                    <a:bodyPr/>
                    <a:lstStyle/>
                    <a:p>
                      <a:pPr algn="ctr"/>
                      <a:r>
                        <a:rPr lang="en-US" dirty="0"/>
                        <a:t>3487</a:t>
                      </a:r>
                    </a:p>
                  </a:txBody>
                  <a:tcPr/>
                </a:tc>
                <a:extLst>
                  <a:ext uri="{0D108BD9-81ED-4DB2-BD59-A6C34878D82A}">
                    <a16:rowId xmlns:a16="http://schemas.microsoft.com/office/drawing/2014/main" val="603461209"/>
                  </a:ext>
                </a:extLst>
              </a:tr>
              <a:tr h="293347">
                <a:tc>
                  <a:txBody>
                    <a:bodyPr/>
                    <a:lstStyle/>
                    <a:p>
                      <a:pPr algn="ctr"/>
                      <a:r>
                        <a:rPr lang="en-US" dirty="0"/>
                        <a:t>Max</a:t>
                      </a:r>
                    </a:p>
                  </a:txBody>
                  <a:tcPr/>
                </a:tc>
                <a:tc>
                  <a:txBody>
                    <a:bodyPr/>
                    <a:lstStyle/>
                    <a:p>
                      <a:pPr algn="ctr"/>
                      <a:r>
                        <a:rPr lang="en-US" dirty="0"/>
                        <a:t>45</a:t>
                      </a:r>
                    </a:p>
                  </a:txBody>
                  <a:tcPr/>
                </a:tc>
                <a:tc>
                  <a:txBody>
                    <a:bodyPr/>
                    <a:lstStyle/>
                    <a:p>
                      <a:pPr algn="ctr"/>
                      <a:r>
                        <a:rPr lang="en-US" dirty="0"/>
                        <a:t>250</a:t>
                      </a:r>
                    </a:p>
                  </a:txBody>
                  <a:tcPr/>
                </a:tc>
                <a:tc>
                  <a:txBody>
                    <a:bodyPr/>
                    <a:lstStyle/>
                    <a:p>
                      <a:pPr algn="ctr"/>
                      <a:r>
                        <a:rPr lang="en-US" dirty="0"/>
                        <a:t>4990</a:t>
                      </a:r>
                    </a:p>
                  </a:txBody>
                  <a:tcPr/>
                </a:tc>
                <a:extLst>
                  <a:ext uri="{0D108BD9-81ED-4DB2-BD59-A6C34878D82A}">
                    <a16:rowId xmlns:a16="http://schemas.microsoft.com/office/drawing/2014/main" val="1104060239"/>
                  </a:ext>
                </a:extLst>
              </a:tr>
            </a:tbl>
          </a:graphicData>
        </a:graphic>
      </p:graphicFrame>
    </p:spTree>
    <p:extLst>
      <p:ext uri="{BB962C8B-B14F-4D97-AF65-F5344CB8AC3E}">
        <p14:creationId xmlns:p14="http://schemas.microsoft.com/office/powerpoint/2010/main" val="31704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6921C-99DA-4F8E-85D5-8E0229665743}"/>
              </a:ext>
            </a:extLst>
          </p:cNvPr>
          <p:cNvSpPr>
            <a:spLocks noGrp="1"/>
          </p:cNvSpPr>
          <p:nvPr>
            <p:ph type="title"/>
          </p:nvPr>
        </p:nvSpPr>
        <p:spPr/>
        <p:txBody>
          <a:bodyPr/>
          <a:lstStyle/>
          <a:p>
            <a:r>
              <a:rPr lang="en-US" dirty="0"/>
              <a:t>Binary variables</a:t>
            </a:r>
          </a:p>
        </p:txBody>
      </p:sp>
      <p:sp>
        <p:nvSpPr>
          <p:cNvPr id="13" name="TextBox 12">
            <a:extLst>
              <a:ext uri="{FF2B5EF4-FFF2-40B4-BE49-F238E27FC236}">
                <a16:creationId xmlns:a16="http://schemas.microsoft.com/office/drawing/2014/main" id="{26881766-B701-4197-AFEF-CC5A4CA217B8}"/>
              </a:ext>
            </a:extLst>
          </p:cNvPr>
          <p:cNvSpPr txBox="1"/>
          <p:nvPr/>
        </p:nvSpPr>
        <p:spPr>
          <a:xfrm>
            <a:off x="1097280" y="2116939"/>
            <a:ext cx="4732759" cy="369332"/>
          </a:xfrm>
          <a:prstGeom prst="rect">
            <a:avLst/>
          </a:prstGeom>
          <a:noFill/>
        </p:spPr>
        <p:txBody>
          <a:bodyPr wrap="square" rtlCol="0">
            <a:spAutoFit/>
          </a:bodyPr>
          <a:lstStyle/>
          <a:p>
            <a:r>
              <a:rPr lang="en-US" dirty="0"/>
              <a:t>indicator of birth weights less than 2.5 kg</a:t>
            </a:r>
          </a:p>
        </p:txBody>
      </p:sp>
      <p:sp>
        <p:nvSpPr>
          <p:cNvPr id="18" name="TextBox 17">
            <a:extLst>
              <a:ext uri="{FF2B5EF4-FFF2-40B4-BE49-F238E27FC236}">
                <a16:creationId xmlns:a16="http://schemas.microsoft.com/office/drawing/2014/main" id="{99C139C4-369E-48CA-ADBA-1B69E861DF5B}"/>
              </a:ext>
            </a:extLst>
          </p:cNvPr>
          <p:cNvSpPr txBox="1"/>
          <p:nvPr/>
        </p:nvSpPr>
        <p:spPr>
          <a:xfrm>
            <a:off x="6515944" y="2116939"/>
            <a:ext cx="4639736" cy="369332"/>
          </a:xfrm>
          <a:prstGeom prst="rect">
            <a:avLst/>
          </a:prstGeom>
          <a:noFill/>
        </p:spPr>
        <p:txBody>
          <a:bodyPr wrap="square" rtlCol="0">
            <a:spAutoFit/>
          </a:bodyPr>
          <a:lstStyle/>
          <a:p>
            <a:r>
              <a:rPr lang="en-US" dirty="0"/>
              <a:t>smoking status during pregnancy</a:t>
            </a:r>
          </a:p>
        </p:txBody>
      </p:sp>
      <p:graphicFrame>
        <p:nvGraphicFramePr>
          <p:cNvPr id="19" name="Table 19">
            <a:extLst>
              <a:ext uri="{FF2B5EF4-FFF2-40B4-BE49-F238E27FC236}">
                <a16:creationId xmlns:a16="http://schemas.microsoft.com/office/drawing/2014/main" id="{1DF8D6C7-A8D6-45E3-8C75-371779B94BA1}"/>
              </a:ext>
            </a:extLst>
          </p:cNvPr>
          <p:cNvGraphicFramePr>
            <a:graphicFrameLocks noGrp="1"/>
          </p:cNvGraphicFramePr>
          <p:nvPr>
            <p:extLst>
              <p:ext uri="{D42A27DB-BD31-4B8C-83A1-F6EECF244321}">
                <p14:modId xmlns:p14="http://schemas.microsoft.com/office/powerpoint/2010/main" val="3634397300"/>
              </p:ext>
            </p:extLst>
          </p:nvPr>
        </p:nvGraphicFramePr>
        <p:xfrm>
          <a:off x="1097281" y="2509805"/>
          <a:ext cx="4732758" cy="1450755"/>
        </p:xfrm>
        <a:graphic>
          <a:graphicData uri="http://schemas.openxmlformats.org/drawingml/2006/table">
            <a:tbl>
              <a:tblPr firstRow="1" bandRow="1">
                <a:tableStyleId>{5C22544A-7EE6-4342-B048-85BDC9FD1C3A}</a:tableStyleId>
              </a:tblPr>
              <a:tblGrid>
                <a:gridCol w="1577586">
                  <a:extLst>
                    <a:ext uri="{9D8B030D-6E8A-4147-A177-3AD203B41FA5}">
                      <a16:colId xmlns:a16="http://schemas.microsoft.com/office/drawing/2014/main" val="2076870993"/>
                    </a:ext>
                  </a:extLst>
                </a:gridCol>
                <a:gridCol w="1577586">
                  <a:extLst>
                    <a:ext uri="{9D8B030D-6E8A-4147-A177-3AD203B41FA5}">
                      <a16:colId xmlns:a16="http://schemas.microsoft.com/office/drawing/2014/main" val="2085762671"/>
                    </a:ext>
                  </a:extLst>
                </a:gridCol>
                <a:gridCol w="1577586">
                  <a:extLst>
                    <a:ext uri="{9D8B030D-6E8A-4147-A177-3AD203B41FA5}">
                      <a16:colId xmlns:a16="http://schemas.microsoft.com/office/drawing/2014/main" val="2050568988"/>
                    </a:ext>
                  </a:extLst>
                </a:gridCol>
              </a:tblGrid>
              <a:tr h="483585">
                <a:tc>
                  <a:txBody>
                    <a:bodyPr/>
                    <a:lstStyle/>
                    <a:p>
                      <a:pPr algn="ctr"/>
                      <a:r>
                        <a:rPr lang="en-US" dirty="0"/>
                        <a:t>low</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9203929"/>
                  </a:ext>
                </a:extLst>
              </a:tr>
              <a:tr h="483585">
                <a:tc>
                  <a:txBody>
                    <a:bodyPr/>
                    <a:lstStyle/>
                    <a:p>
                      <a:pPr algn="ctr"/>
                      <a:r>
                        <a:rPr lang="en-US" dirty="0"/>
                        <a:t>Observation</a:t>
                      </a:r>
                    </a:p>
                  </a:txBody>
                  <a:tcPr/>
                </a:tc>
                <a:tc>
                  <a:txBody>
                    <a:bodyPr/>
                    <a:lstStyle/>
                    <a:p>
                      <a:pPr algn="ctr"/>
                      <a:r>
                        <a:rPr lang="en-US" dirty="0"/>
                        <a:t>130</a:t>
                      </a:r>
                    </a:p>
                  </a:txBody>
                  <a:tcPr/>
                </a:tc>
                <a:tc>
                  <a:txBody>
                    <a:bodyPr/>
                    <a:lstStyle/>
                    <a:p>
                      <a:pPr algn="ctr"/>
                      <a:r>
                        <a:rPr lang="en-US" dirty="0"/>
                        <a:t>59</a:t>
                      </a:r>
                    </a:p>
                  </a:txBody>
                  <a:tcPr/>
                </a:tc>
                <a:extLst>
                  <a:ext uri="{0D108BD9-81ED-4DB2-BD59-A6C34878D82A}">
                    <a16:rowId xmlns:a16="http://schemas.microsoft.com/office/drawing/2014/main" val="3978738175"/>
                  </a:ext>
                </a:extLst>
              </a:tr>
              <a:tr h="483585">
                <a:tc>
                  <a:txBody>
                    <a:bodyPr/>
                    <a:lstStyle/>
                    <a:p>
                      <a:pPr algn="ctr"/>
                      <a:r>
                        <a:rPr lang="en-US" dirty="0"/>
                        <a:t>Proportion</a:t>
                      </a:r>
                    </a:p>
                  </a:txBody>
                  <a:tcPr/>
                </a:tc>
                <a:tc>
                  <a:txBody>
                    <a:bodyPr/>
                    <a:lstStyle/>
                    <a:p>
                      <a:pPr algn="ctr"/>
                      <a:r>
                        <a:rPr lang="en-US" dirty="0"/>
                        <a:t>68.8%</a:t>
                      </a:r>
                    </a:p>
                  </a:txBody>
                  <a:tcPr/>
                </a:tc>
                <a:tc>
                  <a:txBody>
                    <a:bodyPr/>
                    <a:lstStyle/>
                    <a:p>
                      <a:pPr algn="ctr"/>
                      <a:r>
                        <a:rPr lang="en-US" dirty="0"/>
                        <a:t>31.2%</a:t>
                      </a:r>
                    </a:p>
                  </a:txBody>
                  <a:tcPr/>
                </a:tc>
                <a:extLst>
                  <a:ext uri="{0D108BD9-81ED-4DB2-BD59-A6C34878D82A}">
                    <a16:rowId xmlns:a16="http://schemas.microsoft.com/office/drawing/2014/main" val="1818533700"/>
                  </a:ext>
                </a:extLst>
              </a:tr>
            </a:tbl>
          </a:graphicData>
        </a:graphic>
      </p:graphicFrame>
      <p:graphicFrame>
        <p:nvGraphicFramePr>
          <p:cNvPr id="22" name="Table 19">
            <a:extLst>
              <a:ext uri="{FF2B5EF4-FFF2-40B4-BE49-F238E27FC236}">
                <a16:creationId xmlns:a16="http://schemas.microsoft.com/office/drawing/2014/main" id="{F9936C93-551A-46C1-8C5F-AAC693655059}"/>
              </a:ext>
            </a:extLst>
          </p:cNvPr>
          <p:cNvGraphicFramePr>
            <a:graphicFrameLocks noGrp="1"/>
          </p:cNvGraphicFramePr>
          <p:nvPr>
            <p:extLst>
              <p:ext uri="{D42A27DB-BD31-4B8C-83A1-F6EECF244321}">
                <p14:modId xmlns:p14="http://schemas.microsoft.com/office/powerpoint/2010/main" val="3155417733"/>
              </p:ext>
            </p:extLst>
          </p:nvPr>
        </p:nvGraphicFramePr>
        <p:xfrm>
          <a:off x="6422922" y="2509804"/>
          <a:ext cx="4732758" cy="1450755"/>
        </p:xfrm>
        <a:graphic>
          <a:graphicData uri="http://schemas.openxmlformats.org/drawingml/2006/table">
            <a:tbl>
              <a:tblPr firstRow="1" bandRow="1">
                <a:tableStyleId>{5C22544A-7EE6-4342-B048-85BDC9FD1C3A}</a:tableStyleId>
              </a:tblPr>
              <a:tblGrid>
                <a:gridCol w="1577586">
                  <a:extLst>
                    <a:ext uri="{9D8B030D-6E8A-4147-A177-3AD203B41FA5}">
                      <a16:colId xmlns:a16="http://schemas.microsoft.com/office/drawing/2014/main" val="2076870993"/>
                    </a:ext>
                  </a:extLst>
                </a:gridCol>
                <a:gridCol w="1577586">
                  <a:extLst>
                    <a:ext uri="{9D8B030D-6E8A-4147-A177-3AD203B41FA5}">
                      <a16:colId xmlns:a16="http://schemas.microsoft.com/office/drawing/2014/main" val="2085762671"/>
                    </a:ext>
                  </a:extLst>
                </a:gridCol>
                <a:gridCol w="1577586">
                  <a:extLst>
                    <a:ext uri="{9D8B030D-6E8A-4147-A177-3AD203B41FA5}">
                      <a16:colId xmlns:a16="http://schemas.microsoft.com/office/drawing/2014/main" val="2050568988"/>
                    </a:ext>
                  </a:extLst>
                </a:gridCol>
              </a:tblGrid>
              <a:tr h="483585">
                <a:tc>
                  <a:txBody>
                    <a:bodyPr/>
                    <a:lstStyle/>
                    <a:p>
                      <a:pPr algn="ctr"/>
                      <a:r>
                        <a:rPr lang="en-US" dirty="0"/>
                        <a:t>smoke</a:t>
                      </a:r>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9203929"/>
                  </a:ext>
                </a:extLst>
              </a:tr>
              <a:tr h="483585">
                <a:tc>
                  <a:txBody>
                    <a:bodyPr/>
                    <a:lstStyle/>
                    <a:p>
                      <a:pPr algn="ctr"/>
                      <a:r>
                        <a:rPr lang="en-US" dirty="0"/>
                        <a:t>Observation</a:t>
                      </a:r>
                    </a:p>
                  </a:txBody>
                  <a:tcPr/>
                </a:tc>
                <a:tc>
                  <a:txBody>
                    <a:bodyPr/>
                    <a:lstStyle/>
                    <a:p>
                      <a:pPr algn="ctr"/>
                      <a:r>
                        <a:rPr lang="en-US" dirty="0"/>
                        <a:t>115</a:t>
                      </a:r>
                    </a:p>
                  </a:txBody>
                  <a:tcPr/>
                </a:tc>
                <a:tc>
                  <a:txBody>
                    <a:bodyPr/>
                    <a:lstStyle/>
                    <a:p>
                      <a:pPr algn="ctr"/>
                      <a:r>
                        <a:rPr lang="en-US" dirty="0"/>
                        <a:t>74</a:t>
                      </a:r>
                    </a:p>
                  </a:txBody>
                  <a:tcPr/>
                </a:tc>
                <a:extLst>
                  <a:ext uri="{0D108BD9-81ED-4DB2-BD59-A6C34878D82A}">
                    <a16:rowId xmlns:a16="http://schemas.microsoft.com/office/drawing/2014/main" val="3978738175"/>
                  </a:ext>
                </a:extLst>
              </a:tr>
              <a:tr h="483585">
                <a:tc>
                  <a:txBody>
                    <a:bodyPr/>
                    <a:lstStyle/>
                    <a:p>
                      <a:pPr algn="ctr"/>
                      <a:r>
                        <a:rPr lang="en-US" dirty="0"/>
                        <a:t>Proportion</a:t>
                      </a:r>
                    </a:p>
                  </a:txBody>
                  <a:tcPr/>
                </a:tc>
                <a:tc>
                  <a:txBody>
                    <a:bodyPr/>
                    <a:lstStyle/>
                    <a:p>
                      <a:pPr algn="ctr"/>
                      <a:r>
                        <a:rPr lang="en-US" dirty="0"/>
                        <a:t>60.8%</a:t>
                      </a:r>
                    </a:p>
                  </a:txBody>
                  <a:tcPr/>
                </a:tc>
                <a:tc>
                  <a:txBody>
                    <a:bodyPr/>
                    <a:lstStyle/>
                    <a:p>
                      <a:pPr algn="ctr"/>
                      <a:r>
                        <a:rPr lang="en-US" dirty="0"/>
                        <a:t>39.2%</a:t>
                      </a:r>
                    </a:p>
                  </a:txBody>
                  <a:tcPr/>
                </a:tc>
                <a:extLst>
                  <a:ext uri="{0D108BD9-81ED-4DB2-BD59-A6C34878D82A}">
                    <a16:rowId xmlns:a16="http://schemas.microsoft.com/office/drawing/2014/main" val="1818533700"/>
                  </a:ext>
                </a:extLst>
              </a:tr>
            </a:tbl>
          </a:graphicData>
        </a:graphic>
      </p:graphicFrame>
      <p:sp>
        <p:nvSpPr>
          <p:cNvPr id="25" name="TextBox 24">
            <a:extLst>
              <a:ext uri="{FF2B5EF4-FFF2-40B4-BE49-F238E27FC236}">
                <a16:creationId xmlns:a16="http://schemas.microsoft.com/office/drawing/2014/main" id="{15D4FB0E-2FBB-4C1E-B9C7-B0EF93DE8B1F}"/>
              </a:ext>
            </a:extLst>
          </p:cNvPr>
          <p:cNvSpPr txBox="1"/>
          <p:nvPr/>
        </p:nvSpPr>
        <p:spPr>
          <a:xfrm>
            <a:off x="1097280" y="4187064"/>
            <a:ext cx="4639736" cy="369332"/>
          </a:xfrm>
          <a:prstGeom prst="rect">
            <a:avLst/>
          </a:prstGeom>
          <a:noFill/>
        </p:spPr>
        <p:txBody>
          <a:bodyPr wrap="square" rtlCol="0">
            <a:spAutoFit/>
          </a:bodyPr>
          <a:lstStyle/>
          <a:p>
            <a:r>
              <a:rPr lang="en-US" dirty="0"/>
              <a:t>history of hypertension</a:t>
            </a:r>
          </a:p>
        </p:txBody>
      </p:sp>
      <p:graphicFrame>
        <p:nvGraphicFramePr>
          <p:cNvPr id="26" name="Table 25">
            <a:extLst>
              <a:ext uri="{FF2B5EF4-FFF2-40B4-BE49-F238E27FC236}">
                <a16:creationId xmlns:a16="http://schemas.microsoft.com/office/drawing/2014/main" id="{AD53F1CC-8170-4A60-8B2D-F0E20F3DCC3A}"/>
              </a:ext>
            </a:extLst>
          </p:cNvPr>
          <p:cNvGraphicFramePr>
            <a:graphicFrameLocks noGrp="1"/>
          </p:cNvGraphicFramePr>
          <p:nvPr>
            <p:extLst>
              <p:ext uri="{D42A27DB-BD31-4B8C-83A1-F6EECF244321}">
                <p14:modId xmlns:p14="http://schemas.microsoft.com/office/powerpoint/2010/main" val="264570444"/>
              </p:ext>
            </p:extLst>
          </p:nvPr>
        </p:nvGraphicFramePr>
        <p:xfrm>
          <a:off x="1097281" y="4556396"/>
          <a:ext cx="4732758" cy="1450755"/>
        </p:xfrm>
        <a:graphic>
          <a:graphicData uri="http://schemas.openxmlformats.org/drawingml/2006/table">
            <a:tbl>
              <a:tblPr firstRow="1" bandRow="1">
                <a:tableStyleId>{5C22544A-7EE6-4342-B048-85BDC9FD1C3A}</a:tableStyleId>
              </a:tblPr>
              <a:tblGrid>
                <a:gridCol w="1577586">
                  <a:extLst>
                    <a:ext uri="{9D8B030D-6E8A-4147-A177-3AD203B41FA5}">
                      <a16:colId xmlns:a16="http://schemas.microsoft.com/office/drawing/2014/main" val="2076870993"/>
                    </a:ext>
                  </a:extLst>
                </a:gridCol>
                <a:gridCol w="1577586">
                  <a:extLst>
                    <a:ext uri="{9D8B030D-6E8A-4147-A177-3AD203B41FA5}">
                      <a16:colId xmlns:a16="http://schemas.microsoft.com/office/drawing/2014/main" val="2085762671"/>
                    </a:ext>
                  </a:extLst>
                </a:gridCol>
                <a:gridCol w="1577586">
                  <a:extLst>
                    <a:ext uri="{9D8B030D-6E8A-4147-A177-3AD203B41FA5}">
                      <a16:colId xmlns:a16="http://schemas.microsoft.com/office/drawing/2014/main" val="2050568988"/>
                    </a:ext>
                  </a:extLst>
                </a:gridCol>
              </a:tblGrid>
              <a:tr h="483585">
                <a:tc>
                  <a:txBody>
                    <a:bodyPr/>
                    <a:lstStyle/>
                    <a:p>
                      <a:pPr algn="ctr"/>
                      <a:r>
                        <a:rPr lang="en-US" dirty="0" err="1"/>
                        <a:t>ht</a:t>
                      </a:r>
                      <a:endParaRPr lang="en-US" dirty="0"/>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9203929"/>
                  </a:ext>
                </a:extLst>
              </a:tr>
              <a:tr h="483585">
                <a:tc>
                  <a:txBody>
                    <a:bodyPr/>
                    <a:lstStyle/>
                    <a:p>
                      <a:pPr algn="ctr"/>
                      <a:r>
                        <a:rPr lang="en-US" dirty="0"/>
                        <a:t>Observation</a:t>
                      </a:r>
                    </a:p>
                  </a:txBody>
                  <a:tcPr/>
                </a:tc>
                <a:tc>
                  <a:txBody>
                    <a:bodyPr/>
                    <a:lstStyle/>
                    <a:p>
                      <a:pPr algn="ctr"/>
                      <a:r>
                        <a:rPr lang="en-US" dirty="0"/>
                        <a:t>177</a:t>
                      </a:r>
                    </a:p>
                  </a:txBody>
                  <a:tcPr/>
                </a:tc>
                <a:tc>
                  <a:txBody>
                    <a:bodyPr/>
                    <a:lstStyle/>
                    <a:p>
                      <a:pPr algn="ctr"/>
                      <a:r>
                        <a:rPr lang="en-US" dirty="0"/>
                        <a:t>12</a:t>
                      </a:r>
                    </a:p>
                  </a:txBody>
                  <a:tcPr/>
                </a:tc>
                <a:extLst>
                  <a:ext uri="{0D108BD9-81ED-4DB2-BD59-A6C34878D82A}">
                    <a16:rowId xmlns:a16="http://schemas.microsoft.com/office/drawing/2014/main" val="3978738175"/>
                  </a:ext>
                </a:extLst>
              </a:tr>
              <a:tr h="483585">
                <a:tc>
                  <a:txBody>
                    <a:bodyPr/>
                    <a:lstStyle/>
                    <a:p>
                      <a:pPr algn="ctr"/>
                      <a:r>
                        <a:rPr lang="en-US" dirty="0"/>
                        <a:t>Proportion</a:t>
                      </a:r>
                    </a:p>
                  </a:txBody>
                  <a:tcPr/>
                </a:tc>
                <a:tc>
                  <a:txBody>
                    <a:bodyPr/>
                    <a:lstStyle/>
                    <a:p>
                      <a:pPr algn="ctr"/>
                      <a:r>
                        <a:rPr lang="en-US" dirty="0"/>
                        <a:t>93.7%</a:t>
                      </a:r>
                    </a:p>
                  </a:txBody>
                  <a:tcPr/>
                </a:tc>
                <a:tc>
                  <a:txBody>
                    <a:bodyPr/>
                    <a:lstStyle/>
                    <a:p>
                      <a:pPr algn="ctr"/>
                      <a:r>
                        <a:rPr lang="en-US" dirty="0"/>
                        <a:t>6.3%</a:t>
                      </a:r>
                    </a:p>
                  </a:txBody>
                  <a:tcPr/>
                </a:tc>
                <a:extLst>
                  <a:ext uri="{0D108BD9-81ED-4DB2-BD59-A6C34878D82A}">
                    <a16:rowId xmlns:a16="http://schemas.microsoft.com/office/drawing/2014/main" val="1818533700"/>
                  </a:ext>
                </a:extLst>
              </a:tr>
            </a:tbl>
          </a:graphicData>
        </a:graphic>
      </p:graphicFrame>
      <p:sp>
        <p:nvSpPr>
          <p:cNvPr id="27" name="TextBox 26">
            <a:extLst>
              <a:ext uri="{FF2B5EF4-FFF2-40B4-BE49-F238E27FC236}">
                <a16:creationId xmlns:a16="http://schemas.microsoft.com/office/drawing/2014/main" id="{2A58764E-CEE3-4602-BE7E-CDE1EEE8208A}"/>
              </a:ext>
            </a:extLst>
          </p:cNvPr>
          <p:cNvSpPr txBox="1"/>
          <p:nvPr/>
        </p:nvSpPr>
        <p:spPr>
          <a:xfrm>
            <a:off x="6515944" y="4108593"/>
            <a:ext cx="4639736" cy="369332"/>
          </a:xfrm>
          <a:prstGeom prst="rect">
            <a:avLst/>
          </a:prstGeom>
          <a:noFill/>
        </p:spPr>
        <p:txBody>
          <a:bodyPr wrap="square" rtlCol="0">
            <a:spAutoFit/>
          </a:bodyPr>
          <a:lstStyle/>
          <a:p>
            <a:r>
              <a:rPr lang="en-US" dirty="0"/>
              <a:t>presence of uterine irritability</a:t>
            </a:r>
          </a:p>
        </p:txBody>
      </p:sp>
      <p:graphicFrame>
        <p:nvGraphicFramePr>
          <p:cNvPr id="28" name="Table 27">
            <a:extLst>
              <a:ext uri="{FF2B5EF4-FFF2-40B4-BE49-F238E27FC236}">
                <a16:creationId xmlns:a16="http://schemas.microsoft.com/office/drawing/2014/main" id="{14BE5F1B-A4F3-4E1D-B7F0-5DF60D77948C}"/>
              </a:ext>
            </a:extLst>
          </p:cNvPr>
          <p:cNvGraphicFramePr>
            <a:graphicFrameLocks noGrp="1"/>
          </p:cNvGraphicFramePr>
          <p:nvPr>
            <p:extLst>
              <p:ext uri="{D42A27DB-BD31-4B8C-83A1-F6EECF244321}">
                <p14:modId xmlns:p14="http://schemas.microsoft.com/office/powerpoint/2010/main" val="4108417474"/>
              </p:ext>
            </p:extLst>
          </p:nvPr>
        </p:nvGraphicFramePr>
        <p:xfrm>
          <a:off x="6422922" y="4556395"/>
          <a:ext cx="4732758" cy="1450755"/>
        </p:xfrm>
        <a:graphic>
          <a:graphicData uri="http://schemas.openxmlformats.org/drawingml/2006/table">
            <a:tbl>
              <a:tblPr firstRow="1" bandRow="1">
                <a:tableStyleId>{5C22544A-7EE6-4342-B048-85BDC9FD1C3A}</a:tableStyleId>
              </a:tblPr>
              <a:tblGrid>
                <a:gridCol w="1577586">
                  <a:extLst>
                    <a:ext uri="{9D8B030D-6E8A-4147-A177-3AD203B41FA5}">
                      <a16:colId xmlns:a16="http://schemas.microsoft.com/office/drawing/2014/main" val="2076870993"/>
                    </a:ext>
                  </a:extLst>
                </a:gridCol>
                <a:gridCol w="1577586">
                  <a:extLst>
                    <a:ext uri="{9D8B030D-6E8A-4147-A177-3AD203B41FA5}">
                      <a16:colId xmlns:a16="http://schemas.microsoft.com/office/drawing/2014/main" val="2085762671"/>
                    </a:ext>
                  </a:extLst>
                </a:gridCol>
                <a:gridCol w="1577586">
                  <a:extLst>
                    <a:ext uri="{9D8B030D-6E8A-4147-A177-3AD203B41FA5}">
                      <a16:colId xmlns:a16="http://schemas.microsoft.com/office/drawing/2014/main" val="2050568988"/>
                    </a:ext>
                  </a:extLst>
                </a:gridCol>
              </a:tblGrid>
              <a:tr h="483585">
                <a:tc>
                  <a:txBody>
                    <a:bodyPr/>
                    <a:lstStyle/>
                    <a:p>
                      <a:pPr algn="ctr"/>
                      <a:r>
                        <a:rPr lang="en-US" dirty="0" err="1"/>
                        <a:t>ui</a:t>
                      </a:r>
                      <a:endParaRPr lang="en-US" dirty="0"/>
                    </a:p>
                  </a:txBody>
                  <a:tcPr/>
                </a:tc>
                <a:tc>
                  <a:txBody>
                    <a:bodyPr/>
                    <a:lstStyle/>
                    <a:p>
                      <a:pPr algn="ctr"/>
                      <a:r>
                        <a:rPr lang="en-US" dirty="0"/>
                        <a:t>0</a:t>
                      </a:r>
                    </a:p>
                  </a:txBody>
                  <a:tcPr/>
                </a:tc>
                <a:tc>
                  <a:txBody>
                    <a:bodyPr/>
                    <a:lstStyle/>
                    <a:p>
                      <a:pPr algn="ctr"/>
                      <a:r>
                        <a:rPr lang="en-US" dirty="0"/>
                        <a:t>1</a:t>
                      </a:r>
                    </a:p>
                  </a:txBody>
                  <a:tcPr/>
                </a:tc>
                <a:extLst>
                  <a:ext uri="{0D108BD9-81ED-4DB2-BD59-A6C34878D82A}">
                    <a16:rowId xmlns:a16="http://schemas.microsoft.com/office/drawing/2014/main" val="1089203929"/>
                  </a:ext>
                </a:extLst>
              </a:tr>
              <a:tr h="483585">
                <a:tc>
                  <a:txBody>
                    <a:bodyPr/>
                    <a:lstStyle/>
                    <a:p>
                      <a:pPr algn="ctr"/>
                      <a:r>
                        <a:rPr lang="en-US" dirty="0"/>
                        <a:t>Observation</a:t>
                      </a:r>
                    </a:p>
                  </a:txBody>
                  <a:tcPr/>
                </a:tc>
                <a:tc>
                  <a:txBody>
                    <a:bodyPr/>
                    <a:lstStyle/>
                    <a:p>
                      <a:pPr algn="ctr"/>
                      <a:r>
                        <a:rPr lang="en-US" dirty="0"/>
                        <a:t>161</a:t>
                      </a:r>
                    </a:p>
                  </a:txBody>
                  <a:tcPr/>
                </a:tc>
                <a:tc>
                  <a:txBody>
                    <a:bodyPr/>
                    <a:lstStyle/>
                    <a:p>
                      <a:pPr algn="ctr"/>
                      <a:r>
                        <a:rPr lang="en-US" dirty="0"/>
                        <a:t>28</a:t>
                      </a:r>
                    </a:p>
                  </a:txBody>
                  <a:tcPr/>
                </a:tc>
                <a:extLst>
                  <a:ext uri="{0D108BD9-81ED-4DB2-BD59-A6C34878D82A}">
                    <a16:rowId xmlns:a16="http://schemas.microsoft.com/office/drawing/2014/main" val="3978738175"/>
                  </a:ext>
                </a:extLst>
              </a:tr>
              <a:tr h="483585">
                <a:tc>
                  <a:txBody>
                    <a:bodyPr/>
                    <a:lstStyle/>
                    <a:p>
                      <a:pPr algn="ctr"/>
                      <a:r>
                        <a:rPr lang="en-US" dirty="0"/>
                        <a:t>Proportion</a:t>
                      </a:r>
                    </a:p>
                  </a:txBody>
                  <a:tcPr/>
                </a:tc>
                <a:tc>
                  <a:txBody>
                    <a:bodyPr/>
                    <a:lstStyle/>
                    <a:p>
                      <a:pPr algn="ctr"/>
                      <a:r>
                        <a:rPr lang="en-US" dirty="0"/>
                        <a:t>85.2%</a:t>
                      </a:r>
                    </a:p>
                  </a:txBody>
                  <a:tcPr/>
                </a:tc>
                <a:tc>
                  <a:txBody>
                    <a:bodyPr/>
                    <a:lstStyle/>
                    <a:p>
                      <a:pPr algn="ctr"/>
                      <a:r>
                        <a:rPr lang="en-US" dirty="0"/>
                        <a:t>14.8%</a:t>
                      </a:r>
                    </a:p>
                  </a:txBody>
                  <a:tcPr/>
                </a:tc>
                <a:extLst>
                  <a:ext uri="{0D108BD9-81ED-4DB2-BD59-A6C34878D82A}">
                    <a16:rowId xmlns:a16="http://schemas.microsoft.com/office/drawing/2014/main" val="1818533700"/>
                  </a:ext>
                </a:extLst>
              </a:tr>
            </a:tbl>
          </a:graphicData>
        </a:graphic>
      </p:graphicFrame>
    </p:spTree>
    <p:extLst>
      <p:ext uri="{BB962C8B-B14F-4D97-AF65-F5344CB8AC3E}">
        <p14:creationId xmlns:p14="http://schemas.microsoft.com/office/powerpoint/2010/main" val="2771893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DA9A-91EE-41A4-8712-6C0711C93C13}"/>
              </a:ext>
            </a:extLst>
          </p:cNvPr>
          <p:cNvSpPr>
            <a:spLocks noGrp="1"/>
          </p:cNvSpPr>
          <p:nvPr>
            <p:ph type="title"/>
          </p:nvPr>
        </p:nvSpPr>
        <p:spPr/>
        <p:txBody>
          <a:bodyPr/>
          <a:lstStyle/>
          <a:p>
            <a:r>
              <a:rPr lang="en-US" dirty="0"/>
              <a:t>Ordinal variables</a:t>
            </a:r>
          </a:p>
        </p:txBody>
      </p:sp>
      <p:sp>
        <p:nvSpPr>
          <p:cNvPr id="14" name="TextBox 13">
            <a:extLst>
              <a:ext uri="{FF2B5EF4-FFF2-40B4-BE49-F238E27FC236}">
                <a16:creationId xmlns:a16="http://schemas.microsoft.com/office/drawing/2014/main" id="{0498C03D-E479-42AF-8FB7-760455DE90FC}"/>
              </a:ext>
            </a:extLst>
          </p:cNvPr>
          <p:cNvSpPr txBox="1"/>
          <p:nvPr/>
        </p:nvSpPr>
        <p:spPr>
          <a:xfrm>
            <a:off x="1097279" y="2080251"/>
            <a:ext cx="4639736" cy="369332"/>
          </a:xfrm>
          <a:prstGeom prst="rect">
            <a:avLst/>
          </a:prstGeom>
          <a:noFill/>
        </p:spPr>
        <p:txBody>
          <a:bodyPr wrap="square" rtlCol="0">
            <a:spAutoFit/>
          </a:bodyPr>
          <a:lstStyle/>
          <a:p>
            <a:r>
              <a:rPr lang="en-US" dirty="0"/>
              <a:t>number of previous premature </a:t>
            </a:r>
            <a:r>
              <a:rPr lang="en-US" dirty="0" err="1"/>
              <a:t>labours</a:t>
            </a:r>
            <a:endParaRPr lang="en-US" dirty="0"/>
          </a:p>
        </p:txBody>
      </p:sp>
      <p:sp>
        <p:nvSpPr>
          <p:cNvPr id="15" name="TextBox 14">
            <a:extLst>
              <a:ext uri="{FF2B5EF4-FFF2-40B4-BE49-F238E27FC236}">
                <a16:creationId xmlns:a16="http://schemas.microsoft.com/office/drawing/2014/main" id="{34083490-DCE2-4EE2-8EE3-585AD7E113FC}"/>
              </a:ext>
            </a:extLst>
          </p:cNvPr>
          <p:cNvSpPr txBox="1"/>
          <p:nvPr/>
        </p:nvSpPr>
        <p:spPr>
          <a:xfrm>
            <a:off x="1097279" y="3959604"/>
            <a:ext cx="5160907" cy="369332"/>
          </a:xfrm>
          <a:prstGeom prst="rect">
            <a:avLst/>
          </a:prstGeom>
          <a:noFill/>
        </p:spPr>
        <p:txBody>
          <a:bodyPr wrap="square" rtlCol="0">
            <a:spAutoFit/>
          </a:bodyPr>
          <a:lstStyle/>
          <a:p>
            <a:r>
              <a:rPr lang="en-US" dirty="0"/>
              <a:t>number of physician visits during the first trimester</a:t>
            </a:r>
          </a:p>
        </p:txBody>
      </p:sp>
      <p:graphicFrame>
        <p:nvGraphicFramePr>
          <p:cNvPr id="3" name="Table 3">
            <a:extLst>
              <a:ext uri="{FF2B5EF4-FFF2-40B4-BE49-F238E27FC236}">
                <a16:creationId xmlns:a16="http://schemas.microsoft.com/office/drawing/2014/main" id="{F8BCC0A5-C3CD-45B8-B334-5C450583CC11}"/>
              </a:ext>
            </a:extLst>
          </p:cNvPr>
          <p:cNvGraphicFramePr>
            <a:graphicFrameLocks noGrp="1"/>
          </p:cNvGraphicFramePr>
          <p:nvPr>
            <p:extLst>
              <p:ext uri="{D42A27DB-BD31-4B8C-83A1-F6EECF244321}">
                <p14:modId xmlns:p14="http://schemas.microsoft.com/office/powerpoint/2010/main" val="992717467"/>
              </p:ext>
            </p:extLst>
          </p:nvPr>
        </p:nvGraphicFramePr>
        <p:xfrm>
          <a:off x="1193101" y="2540804"/>
          <a:ext cx="6734495" cy="1217462"/>
        </p:xfrm>
        <a:graphic>
          <a:graphicData uri="http://schemas.openxmlformats.org/drawingml/2006/table">
            <a:tbl>
              <a:tblPr firstRow="1" bandRow="1">
                <a:tableStyleId>{5C22544A-7EE6-4342-B048-85BDC9FD1C3A}</a:tableStyleId>
              </a:tblPr>
              <a:tblGrid>
                <a:gridCol w="1346899">
                  <a:extLst>
                    <a:ext uri="{9D8B030D-6E8A-4147-A177-3AD203B41FA5}">
                      <a16:colId xmlns:a16="http://schemas.microsoft.com/office/drawing/2014/main" val="1336872941"/>
                    </a:ext>
                  </a:extLst>
                </a:gridCol>
                <a:gridCol w="1346899">
                  <a:extLst>
                    <a:ext uri="{9D8B030D-6E8A-4147-A177-3AD203B41FA5}">
                      <a16:colId xmlns:a16="http://schemas.microsoft.com/office/drawing/2014/main" val="1050880768"/>
                    </a:ext>
                  </a:extLst>
                </a:gridCol>
                <a:gridCol w="1346899">
                  <a:extLst>
                    <a:ext uri="{9D8B030D-6E8A-4147-A177-3AD203B41FA5}">
                      <a16:colId xmlns:a16="http://schemas.microsoft.com/office/drawing/2014/main" val="446521332"/>
                    </a:ext>
                  </a:extLst>
                </a:gridCol>
                <a:gridCol w="1346899">
                  <a:extLst>
                    <a:ext uri="{9D8B030D-6E8A-4147-A177-3AD203B41FA5}">
                      <a16:colId xmlns:a16="http://schemas.microsoft.com/office/drawing/2014/main" val="2744294859"/>
                    </a:ext>
                  </a:extLst>
                </a:gridCol>
                <a:gridCol w="1346899">
                  <a:extLst>
                    <a:ext uri="{9D8B030D-6E8A-4147-A177-3AD203B41FA5}">
                      <a16:colId xmlns:a16="http://schemas.microsoft.com/office/drawing/2014/main" val="3892079024"/>
                    </a:ext>
                  </a:extLst>
                </a:gridCol>
              </a:tblGrid>
              <a:tr h="417592">
                <a:tc>
                  <a:txBody>
                    <a:bodyPr/>
                    <a:lstStyle/>
                    <a:p>
                      <a:r>
                        <a:rPr lang="en-US" dirty="0" err="1"/>
                        <a:t>ptl</a:t>
                      </a:r>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5527672"/>
                  </a:ext>
                </a:extLst>
              </a:tr>
              <a:tr h="399935">
                <a:tc>
                  <a:txBody>
                    <a:bodyPr/>
                    <a:lstStyle/>
                    <a:p>
                      <a:r>
                        <a:rPr lang="en-US" sz="1800" dirty="0"/>
                        <a:t>Observation</a:t>
                      </a:r>
                    </a:p>
                  </a:txBody>
                  <a:tcPr/>
                </a:tc>
                <a:tc>
                  <a:txBody>
                    <a:bodyPr/>
                    <a:lstStyle/>
                    <a:p>
                      <a:r>
                        <a:rPr lang="en-US" dirty="0"/>
                        <a:t>159</a:t>
                      </a:r>
                    </a:p>
                  </a:txBody>
                  <a:tcPr/>
                </a:tc>
                <a:tc>
                  <a:txBody>
                    <a:bodyPr/>
                    <a:lstStyle/>
                    <a:p>
                      <a:r>
                        <a:rPr lang="en-US" dirty="0"/>
                        <a:t>24</a:t>
                      </a:r>
                    </a:p>
                  </a:txBody>
                  <a:tcPr/>
                </a:tc>
                <a:tc>
                  <a:txBody>
                    <a:bodyPr/>
                    <a:lstStyle/>
                    <a:p>
                      <a:r>
                        <a:rPr lang="en-US" dirty="0"/>
                        <a:t>5</a:t>
                      </a:r>
                    </a:p>
                  </a:txBody>
                  <a:tcPr/>
                </a:tc>
                <a:tc>
                  <a:txBody>
                    <a:bodyPr/>
                    <a:lstStyle/>
                    <a:p>
                      <a:r>
                        <a:rPr lang="en-US" dirty="0"/>
                        <a:t>1</a:t>
                      </a:r>
                    </a:p>
                  </a:txBody>
                  <a:tcPr/>
                </a:tc>
                <a:extLst>
                  <a:ext uri="{0D108BD9-81ED-4DB2-BD59-A6C34878D82A}">
                    <a16:rowId xmlns:a16="http://schemas.microsoft.com/office/drawing/2014/main" val="1327610709"/>
                  </a:ext>
                </a:extLst>
              </a:tr>
              <a:tr h="399935">
                <a:tc>
                  <a:txBody>
                    <a:bodyPr/>
                    <a:lstStyle/>
                    <a:p>
                      <a:r>
                        <a:rPr lang="en-US" sz="1800" dirty="0"/>
                        <a:t>Proportion</a:t>
                      </a:r>
                    </a:p>
                  </a:txBody>
                  <a:tcPr/>
                </a:tc>
                <a:tc>
                  <a:txBody>
                    <a:bodyPr/>
                    <a:lstStyle/>
                    <a:p>
                      <a:r>
                        <a:rPr lang="en-US" dirty="0"/>
                        <a:t>84.1%</a:t>
                      </a:r>
                    </a:p>
                  </a:txBody>
                  <a:tcPr/>
                </a:tc>
                <a:tc>
                  <a:txBody>
                    <a:bodyPr/>
                    <a:lstStyle/>
                    <a:p>
                      <a:r>
                        <a:rPr lang="en-US" dirty="0"/>
                        <a:t>12.7%</a:t>
                      </a:r>
                    </a:p>
                  </a:txBody>
                  <a:tcPr/>
                </a:tc>
                <a:tc>
                  <a:txBody>
                    <a:bodyPr/>
                    <a:lstStyle/>
                    <a:p>
                      <a:r>
                        <a:rPr lang="en-US" dirty="0"/>
                        <a:t>2.6%</a:t>
                      </a:r>
                    </a:p>
                  </a:txBody>
                  <a:tcPr/>
                </a:tc>
                <a:tc>
                  <a:txBody>
                    <a:bodyPr/>
                    <a:lstStyle/>
                    <a:p>
                      <a:r>
                        <a:rPr lang="en-US" dirty="0"/>
                        <a:t>0.5%</a:t>
                      </a:r>
                    </a:p>
                  </a:txBody>
                  <a:tcPr/>
                </a:tc>
                <a:extLst>
                  <a:ext uri="{0D108BD9-81ED-4DB2-BD59-A6C34878D82A}">
                    <a16:rowId xmlns:a16="http://schemas.microsoft.com/office/drawing/2014/main" val="566954834"/>
                  </a:ext>
                </a:extLst>
              </a:tr>
            </a:tbl>
          </a:graphicData>
        </a:graphic>
      </p:graphicFrame>
      <p:graphicFrame>
        <p:nvGraphicFramePr>
          <p:cNvPr id="4" name="Table 4">
            <a:extLst>
              <a:ext uri="{FF2B5EF4-FFF2-40B4-BE49-F238E27FC236}">
                <a16:creationId xmlns:a16="http://schemas.microsoft.com/office/drawing/2014/main" id="{B5FE3FF9-3EFC-4A66-B8A6-48EB4246F3B7}"/>
              </a:ext>
            </a:extLst>
          </p:cNvPr>
          <p:cNvGraphicFramePr>
            <a:graphicFrameLocks noGrp="1"/>
          </p:cNvGraphicFramePr>
          <p:nvPr>
            <p:extLst>
              <p:ext uri="{D42A27DB-BD31-4B8C-83A1-F6EECF244321}">
                <p14:modId xmlns:p14="http://schemas.microsoft.com/office/powerpoint/2010/main" val="3016318062"/>
              </p:ext>
            </p:extLst>
          </p:nvPr>
        </p:nvGraphicFramePr>
        <p:xfrm>
          <a:off x="1193101" y="4561710"/>
          <a:ext cx="9418969" cy="1112520"/>
        </p:xfrm>
        <a:graphic>
          <a:graphicData uri="http://schemas.openxmlformats.org/drawingml/2006/table">
            <a:tbl>
              <a:tblPr firstRow="1" bandRow="1">
                <a:tableStyleId>{5C22544A-7EE6-4342-B048-85BDC9FD1C3A}</a:tableStyleId>
              </a:tblPr>
              <a:tblGrid>
                <a:gridCol w="1345567">
                  <a:extLst>
                    <a:ext uri="{9D8B030D-6E8A-4147-A177-3AD203B41FA5}">
                      <a16:colId xmlns:a16="http://schemas.microsoft.com/office/drawing/2014/main" val="4040265914"/>
                    </a:ext>
                  </a:extLst>
                </a:gridCol>
                <a:gridCol w="1345567">
                  <a:extLst>
                    <a:ext uri="{9D8B030D-6E8A-4147-A177-3AD203B41FA5}">
                      <a16:colId xmlns:a16="http://schemas.microsoft.com/office/drawing/2014/main" val="2236638289"/>
                    </a:ext>
                  </a:extLst>
                </a:gridCol>
                <a:gridCol w="1345567">
                  <a:extLst>
                    <a:ext uri="{9D8B030D-6E8A-4147-A177-3AD203B41FA5}">
                      <a16:colId xmlns:a16="http://schemas.microsoft.com/office/drawing/2014/main" val="3739340341"/>
                    </a:ext>
                  </a:extLst>
                </a:gridCol>
                <a:gridCol w="1345567">
                  <a:extLst>
                    <a:ext uri="{9D8B030D-6E8A-4147-A177-3AD203B41FA5}">
                      <a16:colId xmlns:a16="http://schemas.microsoft.com/office/drawing/2014/main" val="2485348862"/>
                    </a:ext>
                  </a:extLst>
                </a:gridCol>
                <a:gridCol w="1345567">
                  <a:extLst>
                    <a:ext uri="{9D8B030D-6E8A-4147-A177-3AD203B41FA5}">
                      <a16:colId xmlns:a16="http://schemas.microsoft.com/office/drawing/2014/main" val="4113445830"/>
                    </a:ext>
                  </a:extLst>
                </a:gridCol>
                <a:gridCol w="1345567">
                  <a:extLst>
                    <a:ext uri="{9D8B030D-6E8A-4147-A177-3AD203B41FA5}">
                      <a16:colId xmlns:a16="http://schemas.microsoft.com/office/drawing/2014/main" val="3230042991"/>
                    </a:ext>
                  </a:extLst>
                </a:gridCol>
                <a:gridCol w="1345567">
                  <a:extLst>
                    <a:ext uri="{9D8B030D-6E8A-4147-A177-3AD203B41FA5}">
                      <a16:colId xmlns:a16="http://schemas.microsoft.com/office/drawing/2014/main" val="1130273605"/>
                    </a:ext>
                  </a:extLst>
                </a:gridCol>
              </a:tblGrid>
              <a:tr h="370840">
                <a:tc>
                  <a:txBody>
                    <a:bodyPr/>
                    <a:lstStyle/>
                    <a:p>
                      <a:r>
                        <a:rPr lang="en-US" dirty="0" err="1"/>
                        <a:t>ftv</a:t>
                      </a:r>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tc>
                  <a:txBody>
                    <a:bodyPr/>
                    <a:lstStyle/>
                    <a:p>
                      <a:r>
                        <a:rPr lang="en-US" dirty="0"/>
                        <a:t>6</a:t>
                      </a:r>
                    </a:p>
                  </a:txBody>
                  <a:tcPr/>
                </a:tc>
                <a:extLst>
                  <a:ext uri="{0D108BD9-81ED-4DB2-BD59-A6C34878D82A}">
                    <a16:rowId xmlns:a16="http://schemas.microsoft.com/office/drawing/2014/main" val="477315866"/>
                  </a:ext>
                </a:extLst>
              </a:tr>
              <a:tr h="370840">
                <a:tc>
                  <a:txBody>
                    <a:bodyPr/>
                    <a:lstStyle/>
                    <a:p>
                      <a:r>
                        <a:rPr lang="en-US" dirty="0"/>
                        <a:t>Observation</a:t>
                      </a:r>
                    </a:p>
                  </a:txBody>
                  <a:tcPr/>
                </a:tc>
                <a:tc>
                  <a:txBody>
                    <a:bodyPr/>
                    <a:lstStyle/>
                    <a:p>
                      <a:r>
                        <a:rPr lang="en-US" dirty="0"/>
                        <a:t>100</a:t>
                      </a:r>
                    </a:p>
                  </a:txBody>
                  <a:tcPr/>
                </a:tc>
                <a:tc>
                  <a:txBody>
                    <a:bodyPr/>
                    <a:lstStyle/>
                    <a:p>
                      <a:r>
                        <a:rPr lang="en-US" dirty="0"/>
                        <a:t>47</a:t>
                      </a:r>
                    </a:p>
                  </a:txBody>
                  <a:tcPr/>
                </a:tc>
                <a:tc>
                  <a:txBody>
                    <a:bodyPr/>
                    <a:lstStyle/>
                    <a:p>
                      <a:r>
                        <a:rPr lang="en-US" dirty="0"/>
                        <a:t>30</a:t>
                      </a:r>
                    </a:p>
                  </a:txBody>
                  <a:tcPr/>
                </a:tc>
                <a:tc>
                  <a:txBody>
                    <a:bodyPr/>
                    <a:lstStyle/>
                    <a:p>
                      <a:r>
                        <a:rPr lang="en-US" dirty="0"/>
                        <a:t>7</a:t>
                      </a:r>
                    </a:p>
                  </a:txBody>
                  <a:tcPr/>
                </a:tc>
                <a:tc>
                  <a:txBody>
                    <a:bodyPr/>
                    <a:lstStyle/>
                    <a:p>
                      <a:r>
                        <a:rPr lang="en-US" dirty="0"/>
                        <a:t>4</a:t>
                      </a:r>
                    </a:p>
                  </a:txBody>
                  <a:tcPr/>
                </a:tc>
                <a:tc>
                  <a:txBody>
                    <a:bodyPr/>
                    <a:lstStyle/>
                    <a:p>
                      <a:r>
                        <a:rPr lang="en-US" dirty="0"/>
                        <a:t>1</a:t>
                      </a:r>
                    </a:p>
                  </a:txBody>
                  <a:tcPr/>
                </a:tc>
                <a:extLst>
                  <a:ext uri="{0D108BD9-81ED-4DB2-BD59-A6C34878D82A}">
                    <a16:rowId xmlns:a16="http://schemas.microsoft.com/office/drawing/2014/main" val="2102326493"/>
                  </a:ext>
                </a:extLst>
              </a:tr>
              <a:tr h="370840">
                <a:tc>
                  <a:txBody>
                    <a:bodyPr/>
                    <a:lstStyle/>
                    <a:p>
                      <a:r>
                        <a:rPr lang="en-US" dirty="0"/>
                        <a:t>Proportion</a:t>
                      </a:r>
                    </a:p>
                  </a:txBody>
                  <a:tcPr/>
                </a:tc>
                <a:tc>
                  <a:txBody>
                    <a:bodyPr/>
                    <a:lstStyle/>
                    <a:p>
                      <a:r>
                        <a:rPr lang="en-US" dirty="0"/>
                        <a:t>52.9%</a:t>
                      </a:r>
                    </a:p>
                  </a:txBody>
                  <a:tcPr/>
                </a:tc>
                <a:tc>
                  <a:txBody>
                    <a:bodyPr/>
                    <a:lstStyle/>
                    <a:p>
                      <a:r>
                        <a:rPr lang="en-US" dirty="0"/>
                        <a:t>24.9%</a:t>
                      </a:r>
                    </a:p>
                  </a:txBody>
                  <a:tcPr/>
                </a:tc>
                <a:tc>
                  <a:txBody>
                    <a:bodyPr/>
                    <a:lstStyle/>
                    <a:p>
                      <a:r>
                        <a:rPr lang="en-US" dirty="0"/>
                        <a:t>15.9%</a:t>
                      </a:r>
                    </a:p>
                  </a:txBody>
                  <a:tcPr/>
                </a:tc>
                <a:tc>
                  <a:txBody>
                    <a:bodyPr/>
                    <a:lstStyle/>
                    <a:p>
                      <a:r>
                        <a:rPr lang="en-US" dirty="0"/>
                        <a:t>3.7%</a:t>
                      </a:r>
                    </a:p>
                  </a:txBody>
                  <a:tcPr/>
                </a:tc>
                <a:tc>
                  <a:txBody>
                    <a:bodyPr/>
                    <a:lstStyle/>
                    <a:p>
                      <a:r>
                        <a:rPr lang="en-US" dirty="0"/>
                        <a:t>2.1%</a:t>
                      </a:r>
                    </a:p>
                  </a:txBody>
                  <a:tcPr/>
                </a:tc>
                <a:tc>
                  <a:txBody>
                    <a:bodyPr/>
                    <a:lstStyle/>
                    <a:p>
                      <a:r>
                        <a:rPr lang="en-US" dirty="0"/>
                        <a:t>0.5%</a:t>
                      </a:r>
                    </a:p>
                  </a:txBody>
                  <a:tcPr/>
                </a:tc>
                <a:extLst>
                  <a:ext uri="{0D108BD9-81ED-4DB2-BD59-A6C34878D82A}">
                    <a16:rowId xmlns:a16="http://schemas.microsoft.com/office/drawing/2014/main" val="2797347740"/>
                  </a:ext>
                </a:extLst>
              </a:tr>
            </a:tbl>
          </a:graphicData>
        </a:graphic>
      </p:graphicFrame>
    </p:spTree>
    <p:extLst>
      <p:ext uri="{BB962C8B-B14F-4D97-AF65-F5344CB8AC3E}">
        <p14:creationId xmlns:p14="http://schemas.microsoft.com/office/powerpoint/2010/main" val="693913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DA9A-91EE-41A4-8712-6C0711C93C13}"/>
              </a:ext>
            </a:extLst>
          </p:cNvPr>
          <p:cNvSpPr>
            <a:spLocks noGrp="1"/>
          </p:cNvSpPr>
          <p:nvPr>
            <p:ph type="title"/>
          </p:nvPr>
        </p:nvSpPr>
        <p:spPr/>
        <p:txBody>
          <a:bodyPr/>
          <a:lstStyle/>
          <a:p>
            <a:r>
              <a:rPr lang="en-US" dirty="0"/>
              <a:t>Nominal variable</a:t>
            </a:r>
          </a:p>
        </p:txBody>
      </p:sp>
      <p:sp>
        <p:nvSpPr>
          <p:cNvPr id="14" name="TextBox 13">
            <a:extLst>
              <a:ext uri="{FF2B5EF4-FFF2-40B4-BE49-F238E27FC236}">
                <a16:creationId xmlns:a16="http://schemas.microsoft.com/office/drawing/2014/main" id="{0498C03D-E479-42AF-8FB7-760455DE90FC}"/>
              </a:ext>
            </a:extLst>
          </p:cNvPr>
          <p:cNvSpPr txBox="1"/>
          <p:nvPr/>
        </p:nvSpPr>
        <p:spPr>
          <a:xfrm>
            <a:off x="1097278" y="2237906"/>
            <a:ext cx="4767493" cy="369332"/>
          </a:xfrm>
          <a:prstGeom prst="rect">
            <a:avLst/>
          </a:prstGeom>
          <a:noFill/>
        </p:spPr>
        <p:txBody>
          <a:bodyPr wrap="square" rtlCol="0">
            <a:spAutoFit/>
          </a:bodyPr>
          <a:lstStyle/>
          <a:p>
            <a:r>
              <a:rPr lang="en-US" dirty="0"/>
              <a:t>mother's race (1 = white, 2 = black, 3 = other)</a:t>
            </a:r>
          </a:p>
        </p:txBody>
      </p:sp>
      <p:graphicFrame>
        <p:nvGraphicFramePr>
          <p:cNvPr id="5" name="Table 5">
            <a:extLst>
              <a:ext uri="{FF2B5EF4-FFF2-40B4-BE49-F238E27FC236}">
                <a16:creationId xmlns:a16="http://schemas.microsoft.com/office/drawing/2014/main" id="{EA3DD0A5-24C3-4515-B542-CAE5C7032493}"/>
              </a:ext>
            </a:extLst>
          </p:cNvPr>
          <p:cNvGraphicFramePr>
            <a:graphicFrameLocks noGrp="1"/>
          </p:cNvGraphicFramePr>
          <p:nvPr>
            <p:extLst>
              <p:ext uri="{D42A27DB-BD31-4B8C-83A1-F6EECF244321}">
                <p14:modId xmlns:p14="http://schemas.microsoft.com/office/powerpoint/2010/main" val="2027200156"/>
              </p:ext>
            </p:extLst>
          </p:nvPr>
        </p:nvGraphicFramePr>
        <p:xfrm>
          <a:off x="1097278" y="2958369"/>
          <a:ext cx="8128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961079327"/>
                    </a:ext>
                  </a:extLst>
                </a:gridCol>
                <a:gridCol w="2032000">
                  <a:extLst>
                    <a:ext uri="{9D8B030D-6E8A-4147-A177-3AD203B41FA5}">
                      <a16:colId xmlns:a16="http://schemas.microsoft.com/office/drawing/2014/main" val="1400482897"/>
                    </a:ext>
                  </a:extLst>
                </a:gridCol>
                <a:gridCol w="2032000">
                  <a:extLst>
                    <a:ext uri="{9D8B030D-6E8A-4147-A177-3AD203B41FA5}">
                      <a16:colId xmlns:a16="http://schemas.microsoft.com/office/drawing/2014/main" val="2555508864"/>
                    </a:ext>
                  </a:extLst>
                </a:gridCol>
                <a:gridCol w="2032000">
                  <a:extLst>
                    <a:ext uri="{9D8B030D-6E8A-4147-A177-3AD203B41FA5}">
                      <a16:colId xmlns:a16="http://schemas.microsoft.com/office/drawing/2014/main" val="90061969"/>
                    </a:ext>
                  </a:extLst>
                </a:gridCol>
              </a:tblGrid>
              <a:tr h="370840">
                <a:tc>
                  <a:txBody>
                    <a:bodyPr/>
                    <a:lstStyle/>
                    <a:p>
                      <a:r>
                        <a:rPr lang="en-US" dirty="0"/>
                        <a:t>race</a:t>
                      </a:r>
                    </a:p>
                  </a:txBody>
                  <a:tcPr/>
                </a:tc>
                <a:tc>
                  <a:txBody>
                    <a:bodyPr/>
                    <a:lstStyle/>
                    <a:p>
                      <a:r>
                        <a:rPr lang="en-US" dirty="0"/>
                        <a:t>1 (white)</a:t>
                      </a:r>
                    </a:p>
                  </a:txBody>
                  <a:tcPr/>
                </a:tc>
                <a:tc>
                  <a:txBody>
                    <a:bodyPr/>
                    <a:lstStyle/>
                    <a:p>
                      <a:r>
                        <a:rPr lang="en-US" dirty="0"/>
                        <a:t>2 (black)</a:t>
                      </a:r>
                    </a:p>
                  </a:txBody>
                  <a:tcPr/>
                </a:tc>
                <a:tc>
                  <a:txBody>
                    <a:bodyPr/>
                    <a:lstStyle/>
                    <a:p>
                      <a:r>
                        <a:rPr lang="en-US" dirty="0"/>
                        <a:t>3 (other)</a:t>
                      </a:r>
                    </a:p>
                  </a:txBody>
                  <a:tcPr/>
                </a:tc>
                <a:extLst>
                  <a:ext uri="{0D108BD9-81ED-4DB2-BD59-A6C34878D82A}">
                    <a16:rowId xmlns:a16="http://schemas.microsoft.com/office/drawing/2014/main" val="799254113"/>
                  </a:ext>
                </a:extLst>
              </a:tr>
              <a:tr h="370840">
                <a:tc>
                  <a:txBody>
                    <a:bodyPr/>
                    <a:lstStyle/>
                    <a:p>
                      <a:r>
                        <a:rPr lang="en-US" dirty="0"/>
                        <a:t>Observation</a:t>
                      </a:r>
                    </a:p>
                  </a:txBody>
                  <a:tcPr/>
                </a:tc>
                <a:tc>
                  <a:txBody>
                    <a:bodyPr/>
                    <a:lstStyle/>
                    <a:p>
                      <a:r>
                        <a:rPr lang="en-US" dirty="0"/>
                        <a:t>96</a:t>
                      </a:r>
                    </a:p>
                  </a:txBody>
                  <a:tcPr/>
                </a:tc>
                <a:tc>
                  <a:txBody>
                    <a:bodyPr/>
                    <a:lstStyle/>
                    <a:p>
                      <a:r>
                        <a:rPr lang="en-US" dirty="0"/>
                        <a:t>26</a:t>
                      </a:r>
                    </a:p>
                  </a:txBody>
                  <a:tcPr/>
                </a:tc>
                <a:tc>
                  <a:txBody>
                    <a:bodyPr/>
                    <a:lstStyle/>
                    <a:p>
                      <a:r>
                        <a:rPr lang="en-US" dirty="0"/>
                        <a:t>67</a:t>
                      </a:r>
                    </a:p>
                  </a:txBody>
                  <a:tcPr/>
                </a:tc>
                <a:extLst>
                  <a:ext uri="{0D108BD9-81ED-4DB2-BD59-A6C34878D82A}">
                    <a16:rowId xmlns:a16="http://schemas.microsoft.com/office/drawing/2014/main" val="1970135389"/>
                  </a:ext>
                </a:extLst>
              </a:tr>
              <a:tr h="370840">
                <a:tc>
                  <a:txBody>
                    <a:bodyPr/>
                    <a:lstStyle/>
                    <a:p>
                      <a:r>
                        <a:rPr lang="en-US" dirty="0"/>
                        <a:t>Proportion</a:t>
                      </a:r>
                    </a:p>
                  </a:txBody>
                  <a:tcPr/>
                </a:tc>
                <a:tc>
                  <a:txBody>
                    <a:bodyPr/>
                    <a:lstStyle/>
                    <a:p>
                      <a:r>
                        <a:rPr lang="en-US" dirty="0"/>
                        <a:t>50.8%</a:t>
                      </a:r>
                    </a:p>
                  </a:txBody>
                  <a:tcPr/>
                </a:tc>
                <a:tc>
                  <a:txBody>
                    <a:bodyPr/>
                    <a:lstStyle/>
                    <a:p>
                      <a:r>
                        <a:rPr lang="en-US" dirty="0"/>
                        <a:t>13.8%</a:t>
                      </a:r>
                    </a:p>
                  </a:txBody>
                  <a:tcPr/>
                </a:tc>
                <a:tc>
                  <a:txBody>
                    <a:bodyPr/>
                    <a:lstStyle/>
                    <a:p>
                      <a:r>
                        <a:rPr lang="en-US" dirty="0"/>
                        <a:t>35.4%</a:t>
                      </a:r>
                    </a:p>
                  </a:txBody>
                  <a:tcPr/>
                </a:tc>
                <a:extLst>
                  <a:ext uri="{0D108BD9-81ED-4DB2-BD59-A6C34878D82A}">
                    <a16:rowId xmlns:a16="http://schemas.microsoft.com/office/drawing/2014/main" val="2982194534"/>
                  </a:ext>
                </a:extLst>
              </a:tr>
            </a:tbl>
          </a:graphicData>
        </a:graphic>
      </p:graphicFrame>
      <p:sp>
        <p:nvSpPr>
          <p:cNvPr id="6" name="TextBox 5">
            <a:extLst>
              <a:ext uri="{FF2B5EF4-FFF2-40B4-BE49-F238E27FC236}">
                <a16:creationId xmlns:a16="http://schemas.microsoft.com/office/drawing/2014/main" id="{66555644-10A3-475F-A8E0-421C6D8ADD24}"/>
              </a:ext>
            </a:extLst>
          </p:cNvPr>
          <p:cNvSpPr txBox="1"/>
          <p:nvPr/>
        </p:nvSpPr>
        <p:spPr>
          <a:xfrm>
            <a:off x="1097278" y="4540469"/>
            <a:ext cx="9997444" cy="369332"/>
          </a:xfrm>
          <a:prstGeom prst="rect">
            <a:avLst/>
          </a:prstGeom>
          <a:noFill/>
        </p:spPr>
        <p:txBody>
          <a:bodyPr wrap="square" rtlCol="0">
            <a:spAutoFit/>
          </a:bodyPr>
          <a:lstStyle/>
          <a:p>
            <a:r>
              <a:rPr lang="en-US" dirty="0"/>
              <a:t>Note: Need to change the variable type to factor, otherwise R would treat this variable as numerical.</a:t>
            </a:r>
          </a:p>
        </p:txBody>
      </p:sp>
    </p:spTree>
    <p:extLst>
      <p:ext uri="{BB962C8B-B14F-4D97-AF65-F5344CB8AC3E}">
        <p14:creationId xmlns:p14="http://schemas.microsoft.com/office/powerpoint/2010/main" val="21167801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7D6F972-8157-44D1-B936-EAFB055AD9DC}"/>
              </a:ext>
            </a:extLst>
          </p:cNvPr>
          <p:cNvSpPr>
            <a:spLocks noGrp="1"/>
          </p:cNvSpPr>
          <p:nvPr>
            <p:ph type="title"/>
          </p:nvPr>
        </p:nvSpPr>
        <p:spPr>
          <a:xfrm>
            <a:off x="643466" y="786383"/>
            <a:ext cx="3517567" cy="3197788"/>
          </a:xfrm>
        </p:spPr>
        <p:txBody>
          <a:bodyPr>
            <a:normAutofit/>
          </a:bodyPr>
          <a:lstStyle/>
          <a:p>
            <a:r>
              <a:rPr lang="en-US" altLang="zh-CN" sz="4400" dirty="0"/>
              <a:t>Correlations</a:t>
            </a:r>
            <a:endParaRPr lang="en-US" sz="4400" dirty="0"/>
          </a:p>
        </p:txBody>
      </p:sp>
      <p:pic>
        <p:nvPicPr>
          <p:cNvPr id="5" name="Content Placeholder 4" descr="Chart, waterfall chart&#10;&#10;Description automatically generated">
            <a:extLst>
              <a:ext uri="{FF2B5EF4-FFF2-40B4-BE49-F238E27FC236}">
                <a16:creationId xmlns:a16="http://schemas.microsoft.com/office/drawing/2014/main" id="{BE0505C3-B782-4E49-9E0C-59BFB53C27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45938" y="0"/>
            <a:ext cx="6307700" cy="5393084"/>
          </a:xfrm>
          <a:noFill/>
        </p:spPr>
      </p:pic>
      <p:sp>
        <p:nvSpPr>
          <p:cNvPr id="6" name="TextBox 5">
            <a:extLst>
              <a:ext uri="{FF2B5EF4-FFF2-40B4-BE49-F238E27FC236}">
                <a16:creationId xmlns:a16="http://schemas.microsoft.com/office/drawing/2014/main" id="{B28B6990-1EA7-4F95-A266-D57211B1BCC0}"/>
              </a:ext>
            </a:extLst>
          </p:cNvPr>
          <p:cNvSpPr txBox="1"/>
          <p:nvPr/>
        </p:nvSpPr>
        <p:spPr>
          <a:xfrm>
            <a:off x="4803228" y="5632269"/>
            <a:ext cx="7189075" cy="646331"/>
          </a:xfrm>
          <a:prstGeom prst="rect">
            <a:avLst/>
          </a:prstGeom>
          <a:noFill/>
        </p:spPr>
        <p:txBody>
          <a:bodyPr wrap="square" rtlCol="0">
            <a:spAutoFit/>
          </a:bodyPr>
          <a:lstStyle/>
          <a:p>
            <a:pPr marL="285750" indent="-285750">
              <a:buFont typeface="Arial" panose="020B0604020202020204" pitchFamily="34" charset="0"/>
              <a:buChar char="•"/>
            </a:pPr>
            <a:r>
              <a:rPr lang="en-US" dirty="0"/>
              <a:t>`low` is generated from `</a:t>
            </a:r>
            <a:r>
              <a:rPr lang="en-US" dirty="0" err="1"/>
              <a:t>bwt</a:t>
            </a:r>
            <a:r>
              <a:rPr lang="en-US" dirty="0"/>
              <a:t>`, so they are strongly correlated.</a:t>
            </a:r>
          </a:p>
          <a:p>
            <a:pPr marL="285750" indent="-285750">
              <a:buFont typeface="Arial" panose="020B0604020202020204" pitchFamily="34" charset="0"/>
              <a:buChar char="•"/>
            </a:pPr>
            <a:r>
              <a:rPr lang="en-US" dirty="0"/>
              <a:t>No other pair of variables has any strong correlation.</a:t>
            </a:r>
          </a:p>
        </p:txBody>
      </p:sp>
    </p:spTree>
    <p:extLst>
      <p:ext uri="{BB962C8B-B14F-4D97-AF65-F5344CB8AC3E}">
        <p14:creationId xmlns:p14="http://schemas.microsoft.com/office/powerpoint/2010/main" val="34271373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14C5-E8D4-4E7F-85A1-CAEA9F50E3F1}"/>
              </a:ext>
            </a:extLst>
          </p:cNvPr>
          <p:cNvSpPr>
            <a:spLocks noGrp="1"/>
          </p:cNvSpPr>
          <p:nvPr>
            <p:ph type="title"/>
          </p:nvPr>
        </p:nvSpPr>
        <p:spPr/>
        <p:txBody>
          <a:bodyPr>
            <a:normAutofit/>
          </a:bodyPr>
          <a:lstStyle/>
          <a:p>
            <a:r>
              <a:rPr lang="en-US" sz="4400" dirty="0"/>
              <a:t>3. </a:t>
            </a:r>
            <a:r>
              <a:rPr lang="en-US" altLang="zh-CN" sz="4400" dirty="0"/>
              <a:t>Question One (Method &amp; Result)</a:t>
            </a:r>
            <a:endParaRPr lang="en-US" sz="4400" dirty="0"/>
          </a:p>
        </p:txBody>
      </p:sp>
      <p:sp>
        <p:nvSpPr>
          <p:cNvPr id="4" name="TextBox 3">
            <a:extLst>
              <a:ext uri="{FF2B5EF4-FFF2-40B4-BE49-F238E27FC236}">
                <a16:creationId xmlns:a16="http://schemas.microsoft.com/office/drawing/2014/main" id="{CCADD91E-A7EB-405D-B63A-44AEBBD7165B}"/>
              </a:ext>
            </a:extLst>
          </p:cNvPr>
          <p:cNvSpPr txBox="1"/>
          <p:nvPr/>
        </p:nvSpPr>
        <p:spPr>
          <a:xfrm>
            <a:off x="1182848" y="4890782"/>
            <a:ext cx="9857064" cy="369332"/>
          </a:xfrm>
          <a:prstGeom prst="rect">
            <a:avLst/>
          </a:prstGeom>
          <a:noFill/>
        </p:spPr>
        <p:txBody>
          <a:bodyPr wrap="square" rtlCol="0">
            <a:spAutoFit/>
          </a:bodyPr>
          <a:lstStyle/>
          <a:p>
            <a:r>
              <a:rPr lang="en-US"/>
              <a:t>What factors are associated with low infant birthweight (less than 2.5 kg)?</a:t>
            </a:r>
            <a:endParaRPr lang="en-US" dirty="0"/>
          </a:p>
        </p:txBody>
      </p:sp>
    </p:spTree>
    <p:extLst>
      <p:ext uri="{BB962C8B-B14F-4D97-AF65-F5344CB8AC3E}">
        <p14:creationId xmlns:p14="http://schemas.microsoft.com/office/powerpoint/2010/main" val="7277274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 letter&#10;&#10;Description automatically generated">
            <a:extLst>
              <a:ext uri="{FF2B5EF4-FFF2-40B4-BE49-F238E27FC236}">
                <a16:creationId xmlns:a16="http://schemas.microsoft.com/office/drawing/2014/main" id="{124D6441-7C56-45C9-8532-F8611BED0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803" y="257331"/>
            <a:ext cx="5627816" cy="2694876"/>
          </a:xfrm>
          <a:prstGeom prst="rect">
            <a:avLst/>
          </a:prstGeom>
        </p:spPr>
      </p:pic>
      <p:pic>
        <p:nvPicPr>
          <p:cNvPr id="5" name="Picture 4" descr="Table&#10;&#10;Description automatically generated">
            <a:extLst>
              <a:ext uri="{FF2B5EF4-FFF2-40B4-BE49-F238E27FC236}">
                <a16:creationId xmlns:a16="http://schemas.microsoft.com/office/drawing/2014/main" id="{AA894B35-7989-4774-B2CD-88C857A642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6182" y="858220"/>
            <a:ext cx="6101015" cy="4697663"/>
          </a:xfrm>
          <a:prstGeom prst="rect">
            <a:avLst/>
          </a:prstGeom>
        </p:spPr>
      </p:pic>
      <p:sp>
        <p:nvSpPr>
          <p:cNvPr id="6" name="TextBox 5">
            <a:extLst>
              <a:ext uri="{FF2B5EF4-FFF2-40B4-BE49-F238E27FC236}">
                <a16:creationId xmlns:a16="http://schemas.microsoft.com/office/drawing/2014/main" id="{E5D20055-737D-47B7-90B4-F26D6F62A0EB}"/>
              </a:ext>
            </a:extLst>
          </p:cNvPr>
          <p:cNvSpPr txBox="1"/>
          <p:nvPr/>
        </p:nvSpPr>
        <p:spPr>
          <a:xfrm>
            <a:off x="164803" y="3429000"/>
            <a:ext cx="5521294" cy="1754326"/>
          </a:xfrm>
          <a:prstGeom prst="rect">
            <a:avLst/>
          </a:prstGeom>
          <a:noFill/>
        </p:spPr>
        <p:txBody>
          <a:bodyPr wrap="square" rtlCol="0">
            <a:spAutoFit/>
          </a:bodyPr>
          <a:lstStyle/>
          <a:p>
            <a:r>
              <a:rPr lang="en-US" dirty="0"/>
              <a:t>Interaction terms with reasonably low p-values</a:t>
            </a:r>
          </a:p>
          <a:p>
            <a:pPr marL="742950" lvl="1" indent="-285750">
              <a:buFont typeface="Arial" panose="020B0604020202020204" pitchFamily="34" charset="0"/>
              <a:buChar char="•"/>
            </a:pPr>
            <a:r>
              <a:rPr lang="en-US" dirty="0" err="1"/>
              <a:t>age:ptl</a:t>
            </a:r>
            <a:r>
              <a:rPr lang="en-US" dirty="0"/>
              <a:t>       (0.173)</a:t>
            </a:r>
          </a:p>
          <a:p>
            <a:pPr marL="742950" lvl="1" indent="-285750">
              <a:buFont typeface="Arial" panose="020B0604020202020204" pitchFamily="34" charset="0"/>
              <a:buChar char="•"/>
            </a:pPr>
            <a:r>
              <a:rPr lang="en-US" dirty="0" err="1"/>
              <a:t>age:ftv</a:t>
            </a:r>
            <a:r>
              <a:rPr lang="en-US" dirty="0"/>
              <a:t>       (0.001)</a:t>
            </a:r>
          </a:p>
          <a:p>
            <a:pPr marL="742950" lvl="1" indent="-285750">
              <a:buFont typeface="Arial" panose="020B0604020202020204" pitchFamily="34" charset="0"/>
              <a:buChar char="•"/>
            </a:pPr>
            <a:r>
              <a:rPr lang="en-US" dirty="0" err="1"/>
              <a:t>lwt:smoke</a:t>
            </a:r>
            <a:r>
              <a:rPr lang="en-US" dirty="0"/>
              <a:t> (0.015)</a:t>
            </a:r>
          </a:p>
          <a:p>
            <a:pPr marL="742950" lvl="1" indent="-285750">
              <a:buFont typeface="Arial" panose="020B0604020202020204" pitchFamily="34" charset="0"/>
              <a:buChar char="•"/>
            </a:pPr>
            <a:r>
              <a:rPr lang="en-US" dirty="0" err="1"/>
              <a:t>lwt:ui</a:t>
            </a:r>
            <a:r>
              <a:rPr lang="en-US" dirty="0"/>
              <a:t>         (0.068)</a:t>
            </a:r>
          </a:p>
          <a:p>
            <a:pPr marL="742950" lvl="1" indent="-285750">
              <a:buFont typeface="Arial" panose="020B0604020202020204" pitchFamily="34" charset="0"/>
              <a:buChar char="•"/>
            </a:pPr>
            <a:r>
              <a:rPr lang="en-US" dirty="0" err="1"/>
              <a:t>ptl:ui</a:t>
            </a:r>
            <a:r>
              <a:rPr lang="en-US" dirty="0"/>
              <a:t>          (0.067)</a:t>
            </a:r>
          </a:p>
        </p:txBody>
      </p:sp>
    </p:spTree>
    <p:extLst>
      <p:ext uri="{BB962C8B-B14F-4D97-AF65-F5344CB8AC3E}">
        <p14:creationId xmlns:p14="http://schemas.microsoft.com/office/powerpoint/2010/main" val="958093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ext&#10;&#10;Description automatically generated">
            <a:extLst>
              <a:ext uri="{FF2B5EF4-FFF2-40B4-BE49-F238E27FC236}">
                <a16:creationId xmlns:a16="http://schemas.microsoft.com/office/drawing/2014/main" id="{FC4ECDF1-0FCD-4C10-AACA-557CD5F077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50" y="738231"/>
            <a:ext cx="5595458" cy="5649747"/>
          </a:xfrm>
          <a:prstGeom prst="rect">
            <a:avLst/>
          </a:prstGeom>
        </p:spPr>
      </p:pic>
      <p:pic>
        <p:nvPicPr>
          <p:cNvPr id="5" name="Picture 4" descr="Text&#10;&#10;Description automatically generated">
            <a:extLst>
              <a:ext uri="{FF2B5EF4-FFF2-40B4-BE49-F238E27FC236}">
                <a16:creationId xmlns:a16="http://schemas.microsoft.com/office/drawing/2014/main" id="{D96C1D74-2DD8-4906-BFB4-A735673F96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91612" y="738231"/>
            <a:ext cx="5792008" cy="5649747"/>
          </a:xfrm>
          <a:prstGeom prst="rect">
            <a:avLst/>
          </a:prstGeom>
        </p:spPr>
      </p:pic>
      <p:sp>
        <p:nvSpPr>
          <p:cNvPr id="6" name="TextBox 5">
            <a:extLst>
              <a:ext uri="{FF2B5EF4-FFF2-40B4-BE49-F238E27FC236}">
                <a16:creationId xmlns:a16="http://schemas.microsoft.com/office/drawing/2014/main" id="{CA2CE07B-A8CF-48F0-A3AA-1064285A0D8A}"/>
              </a:ext>
            </a:extLst>
          </p:cNvPr>
          <p:cNvSpPr txBox="1"/>
          <p:nvPr/>
        </p:nvSpPr>
        <p:spPr>
          <a:xfrm>
            <a:off x="196550" y="134224"/>
            <a:ext cx="5595458" cy="369332"/>
          </a:xfrm>
          <a:prstGeom prst="rect">
            <a:avLst/>
          </a:prstGeom>
          <a:noFill/>
        </p:spPr>
        <p:txBody>
          <a:bodyPr wrap="square" rtlCol="0">
            <a:spAutoFit/>
          </a:bodyPr>
          <a:lstStyle/>
          <a:p>
            <a:r>
              <a:rPr lang="en-US" dirty="0"/>
              <a:t>Backward Selection</a:t>
            </a:r>
          </a:p>
        </p:txBody>
      </p:sp>
      <p:sp>
        <p:nvSpPr>
          <p:cNvPr id="7" name="TextBox 6">
            <a:extLst>
              <a:ext uri="{FF2B5EF4-FFF2-40B4-BE49-F238E27FC236}">
                <a16:creationId xmlns:a16="http://schemas.microsoft.com/office/drawing/2014/main" id="{E3328919-22F4-43F1-97D7-585DEBCEFF1A}"/>
              </a:ext>
            </a:extLst>
          </p:cNvPr>
          <p:cNvSpPr txBox="1"/>
          <p:nvPr/>
        </p:nvSpPr>
        <p:spPr>
          <a:xfrm>
            <a:off x="5991612" y="134224"/>
            <a:ext cx="5595458" cy="369332"/>
          </a:xfrm>
          <a:prstGeom prst="rect">
            <a:avLst/>
          </a:prstGeom>
          <a:noFill/>
        </p:spPr>
        <p:txBody>
          <a:bodyPr wrap="square" rtlCol="0">
            <a:spAutoFit/>
          </a:bodyPr>
          <a:lstStyle/>
          <a:p>
            <a:r>
              <a:rPr lang="en-US" dirty="0"/>
              <a:t>Forward Selection</a:t>
            </a:r>
          </a:p>
        </p:txBody>
      </p:sp>
    </p:spTree>
    <p:extLst>
      <p:ext uri="{BB962C8B-B14F-4D97-AF65-F5344CB8AC3E}">
        <p14:creationId xmlns:p14="http://schemas.microsoft.com/office/powerpoint/2010/main" val="2846048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B6CF-440D-4F9B-BE88-6EE83058EC98}"/>
              </a:ext>
            </a:extLst>
          </p:cNvPr>
          <p:cNvSpPr>
            <a:spLocks noGrp="1"/>
          </p:cNvSpPr>
          <p:nvPr>
            <p:ph type="title"/>
          </p:nvPr>
        </p:nvSpPr>
        <p:spPr/>
        <p:txBody>
          <a:bodyPr/>
          <a:lstStyle/>
          <a:p>
            <a:r>
              <a:rPr lang="en-US" dirty="0"/>
              <a:t>Results</a:t>
            </a:r>
          </a:p>
        </p:txBody>
      </p:sp>
      <p:sp>
        <p:nvSpPr>
          <p:cNvPr id="3" name="Content Placeholder 2">
            <a:extLst>
              <a:ext uri="{FF2B5EF4-FFF2-40B4-BE49-F238E27FC236}">
                <a16:creationId xmlns:a16="http://schemas.microsoft.com/office/drawing/2014/main" id="{8BD58C1F-B640-4719-B38A-21853AD6FEAE}"/>
              </a:ext>
            </a:extLst>
          </p:cNvPr>
          <p:cNvSpPr>
            <a:spLocks noGrp="1"/>
          </p:cNvSpPr>
          <p:nvPr>
            <p:ph idx="1"/>
          </p:nvPr>
        </p:nvSpPr>
        <p:spPr/>
        <p:txBody>
          <a:bodyPr/>
          <a:lstStyle/>
          <a:p>
            <a:pPr>
              <a:buFont typeface="Wingdings" panose="05000000000000000000" pitchFamily="2" charset="2"/>
              <a:buChar char="v"/>
            </a:pPr>
            <a:r>
              <a:rPr lang="en-US" dirty="0"/>
              <a:t> The backward selected model has the lower AIC score (208.8), so we chose it as our best model.</a:t>
            </a:r>
          </a:p>
          <a:p>
            <a:pPr>
              <a:buFont typeface="Wingdings" panose="05000000000000000000" pitchFamily="2" charset="2"/>
              <a:buChar char="v"/>
            </a:pPr>
            <a:r>
              <a:rPr lang="en-US" dirty="0"/>
              <a:t> From the backward selected model, the significant factors that are associated with low infant birthweight at a level of 0.05 include:</a:t>
            </a:r>
          </a:p>
          <a:p>
            <a:pPr lvl="1">
              <a:buFont typeface="Wingdings" panose="05000000000000000000" pitchFamily="2" charset="2"/>
              <a:buChar char="v"/>
            </a:pPr>
            <a:r>
              <a:rPr lang="en-US" dirty="0"/>
              <a:t> mother‘s weight (</a:t>
            </a:r>
            <a:r>
              <a:rPr lang="en-US" dirty="0" err="1"/>
              <a:t>lwt</a:t>
            </a:r>
            <a:r>
              <a:rPr lang="en-US" dirty="0"/>
              <a:t>)</a:t>
            </a:r>
          </a:p>
          <a:p>
            <a:pPr lvl="1">
              <a:buFont typeface="Wingdings" panose="05000000000000000000" pitchFamily="2" charset="2"/>
              <a:buChar char="v"/>
            </a:pPr>
            <a:r>
              <a:rPr lang="en-US" dirty="0"/>
              <a:t> number of previous premature </a:t>
            </a:r>
            <a:r>
              <a:rPr lang="en-US" dirty="0" err="1"/>
              <a:t>labours</a:t>
            </a:r>
            <a:r>
              <a:rPr lang="en-US" dirty="0"/>
              <a:t> (</a:t>
            </a:r>
            <a:r>
              <a:rPr lang="en-US" dirty="0" err="1"/>
              <a:t>ptl</a:t>
            </a:r>
            <a:r>
              <a:rPr lang="en-US" dirty="0"/>
              <a:t>)</a:t>
            </a:r>
          </a:p>
          <a:p>
            <a:pPr lvl="1">
              <a:buFont typeface="Wingdings" panose="05000000000000000000" pitchFamily="2" charset="2"/>
              <a:buChar char="v"/>
            </a:pPr>
            <a:r>
              <a:rPr lang="en-US" dirty="0"/>
              <a:t> history of hypertension (</a:t>
            </a:r>
            <a:r>
              <a:rPr lang="en-US" dirty="0" err="1"/>
              <a:t>ht</a:t>
            </a:r>
            <a:r>
              <a:rPr lang="en-US" dirty="0"/>
              <a:t>)</a:t>
            </a:r>
          </a:p>
          <a:p>
            <a:pPr lvl="1">
              <a:buFont typeface="Wingdings" panose="05000000000000000000" pitchFamily="2" charset="2"/>
              <a:buChar char="v"/>
            </a:pPr>
            <a:r>
              <a:rPr lang="en-US" dirty="0"/>
              <a:t> number of physician visits (</a:t>
            </a:r>
            <a:r>
              <a:rPr lang="en-US" dirty="0" err="1"/>
              <a:t>ftv</a:t>
            </a:r>
            <a:r>
              <a:rPr lang="en-US" dirty="0"/>
              <a:t>)</a:t>
            </a:r>
          </a:p>
          <a:p>
            <a:pPr lvl="1">
              <a:buFont typeface="Wingdings" panose="05000000000000000000" pitchFamily="2" charset="2"/>
              <a:buChar char="v"/>
            </a:pPr>
            <a:r>
              <a:rPr lang="en-US" dirty="0"/>
              <a:t> interaction between mother's age and number of physician visits (</a:t>
            </a:r>
            <a:r>
              <a:rPr lang="en-US" dirty="0" err="1"/>
              <a:t>age:ftv</a:t>
            </a:r>
            <a:r>
              <a:rPr lang="en-US" dirty="0"/>
              <a:t>)</a:t>
            </a:r>
          </a:p>
          <a:p>
            <a:pPr lvl="1">
              <a:buFont typeface="Wingdings" panose="05000000000000000000" pitchFamily="2" charset="2"/>
              <a:buChar char="v"/>
            </a:pPr>
            <a:r>
              <a:rPr lang="en-US" dirty="0"/>
              <a:t> interaction between number of previous premature </a:t>
            </a:r>
            <a:r>
              <a:rPr lang="en-US" dirty="0" err="1"/>
              <a:t>labours</a:t>
            </a:r>
            <a:r>
              <a:rPr lang="en-US" dirty="0"/>
              <a:t> and presence of uterine irritability (</a:t>
            </a:r>
            <a:r>
              <a:rPr lang="en-US" dirty="0" err="1"/>
              <a:t>ptl:ui</a:t>
            </a:r>
            <a:r>
              <a:rPr lang="en-US" dirty="0"/>
              <a:t>)</a:t>
            </a:r>
          </a:p>
        </p:txBody>
      </p:sp>
    </p:spTree>
    <p:extLst>
      <p:ext uri="{BB962C8B-B14F-4D97-AF65-F5344CB8AC3E}">
        <p14:creationId xmlns:p14="http://schemas.microsoft.com/office/powerpoint/2010/main" val="3727424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14C5-E8D4-4E7F-85A1-CAEA9F50E3F1}"/>
              </a:ext>
            </a:extLst>
          </p:cNvPr>
          <p:cNvSpPr>
            <a:spLocks noGrp="1"/>
          </p:cNvSpPr>
          <p:nvPr>
            <p:ph type="title"/>
          </p:nvPr>
        </p:nvSpPr>
        <p:spPr/>
        <p:txBody>
          <a:bodyPr>
            <a:normAutofit/>
          </a:bodyPr>
          <a:lstStyle/>
          <a:p>
            <a:r>
              <a:rPr lang="en-US" sz="4400" dirty="0"/>
              <a:t>4. </a:t>
            </a:r>
            <a:r>
              <a:rPr lang="en-US" altLang="zh-CN" sz="4400" dirty="0"/>
              <a:t>Question Two (Method &amp; Result)</a:t>
            </a:r>
            <a:endParaRPr lang="en-US" sz="4400" dirty="0"/>
          </a:p>
        </p:txBody>
      </p:sp>
      <p:sp>
        <p:nvSpPr>
          <p:cNvPr id="3" name="TextBox 2">
            <a:extLst>
              <a:ext uri="{FF2B5EF4-FFF2-40B4-BE49-F238E27FC236}">
                <a16:creationId xmlns:a16="http://schemas.microsoft.com/office/drawing/2014/main" id="{20438227-71D0-4F55-BA27-E310C04A3489}"/>
              </a:ext>
            </a:extLst>
          </p:cNvPr>
          <p:cNvSpPr txBox="1"/>
          <p:nvPr/>
        </p:nvSpPr>
        <p:spPr>
          <a:xfrm>
            <a:off x="1097280" y="4874004"/>
            <a:ext cx="9858742" cy="369332"/>
          </a:xfrm>
          <a:prstGeom prst="rect">
            <a:avLst/>
          </a:prstGeom>
          <a:noFill/>
        </p:spPr>
        <p:txBody>
          <a:bodyPr wrap="square" rtlCol="0">
            <a:spAutoFit/>
          </a:bodyPr>
          <a:lstStyle/>
          <a:p>
            <a:r>
              <a:rPr lang="en-US" dirty="0"/>
              <a:t>How well can these factors predict low birthweight?</a:t>
            </a:r>
          </a:p>
        </p:txBody>
      </p:sp>
    </p:spTree>
    <p:extLst>
      <p:ext uri="{BB962C8B-B14F-4D97-AF65-F5344CB8AC3E}">
        <p14:creationId xmlns:p14="http://schemas.microsoft.com/office/powerpoint/2010/main" val="35171139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E8A1F-A0D9-4634-BA7E-40E60903B843}"/>
              </a:ext>
            </a:extLst>
          </p:cNvPr>
          <p:cNvSpPr>
            <a:spLocks noGrp="1"/>
          </p:cNvSpPr>
          <p:nvPr>
            <p:ph type="title"/>
          </p:nvPr>
        </p:nvSpPr>
        <p:spPr/>
        <p:txBody>
          <a:bodyPr/>
          <a:lstStyle/>
          <a:p>
            <a:r>
              <a:rPr lang="en-US" dirty="0"/>
              <a:t>Choose the best link function</a:t>
            </a:r>
          </a:p>
        </p:txBody>
      </p:sp>
      <p:sp>
        <p:nvSpPr>
          <p:cNvPr id="3" name="Content Placeholder 2">
            <a:extLst>
              <a:ext uri="{FF2B5EF4-FFF2-40B4-BE49-F238E27FC236}">
                <a16:creationId xmlns:a16="http://schemas.microsoft.com/office/drawing/2014/main" id="{8797BC12-9610-4269-8753-B6587A12659E}"/>
              </a:ext>
            </a:extLst>
          </p:cNvPr>
          <p:cNvSpPr>
            <a:spLocks noGrp="1"/>
          </p:cNvSpPr>
          <p:nvPr>
            <p:ph idx="1"/>
          </p:nvPr>
        </p:nvSpPr>
        <p:spPr>
          <a:xfrm>
            <a:off x="781970" y="2237225"/>
            <a:ext cx="5513727" cy="3760891"/>
          </a:xfrm>
        </p:spPr>
        <p:txBody>
          <a:bodyPr/>
          <a:lstStyle/>
          <a:p>
            <a:pPr>
              <a:buFont typeface="Wingdings" panose="05000000000000000000" pitchFamily="2" charset="2"/>
              <a:buChar char="v"/>
            </a:pPr>
            <a:r>
              <a:rPr lang="en-US" dirty="0"/>
              <a:t> AUC for logit link: 0.8047</a:t>
            </a:r>
          </a:p>
          <a:p>
            <a:pPr>
              <a:buFont typeface="Wingdings" panose="05000000000000000000" pitchFamily="2" charset="2"/>
              <a:buChar char="v"/>
            </a:pPr>
            <a:r>
              <a:rPr lang="en-US" dirty="0"/>
              <a:t> AUC for </a:t>
            </a:r>
            <a:r>
              <a:rPr lang="en-US" dirty="0" err="1"/>
              <a:t>probit</a:t>
            </a:r>
            <a:r>
              <a:rPr lang="en-US" dirty="0"/>
              <a:t> link: 0.8044</a:t>
            </a:r>
          </a:p>
          <a:p>
            <a:pPr>
              <a:buFont typeface="Wingdings" panose="05000000000000000000" pitchFamily="2" charset="2"/>
              <a:buChar char="v"/>
            </a:pPr>
            <a:r>
              <a:rPr lang="en-US" dirty="0"/>
              <a:t> AUC for </a:t>
            </a:r>
            <a:r>
              <a:rPr lang="en-US" dirty="0" err="1"/>
              <a:t>cloglog</a:t>
            </a:r>
            <a:r>
              <a:rPr lang="en-US" dirty="0"/>
              <a:t> link: 0.7962</a:t>
            </a:r>
          </a:p>
          <a:p>
            <a:pPr>
              <a:buFont typeface="Wingdings" panose="05000000000000000000" pitchFamily="2" charset="2"/>
              <a:buChar char="v"/>
            </a:pPr>
            <a:endParaRPr lang="en-US" dirty="0"/>
          </a:p>
          <a:p>
            <a:pPr>
              <a:buFont typeface="Wingdings" panose="05000000000000000000" pitchFamily="2" charset="2"/>
              <a:buChar char="v"/>
            </a:pPr>
            <a:r>
              <a:rPr lang="en-US" dirty="0"/>
              <a:t> Therefore, the logit link has the largest area under the ROC curve, so we chose logit link.</a:t>
            </a:r>
          </a:p>
        </p:txBody>
      </p:sp>
      <p:pic>
        <p:nvPicPr>
          <p:cNvPr id="8" name="Picture 7" descr="Graphical user interface, text, application, email&#10;&#10;Description automatically generated">
            <a:extLst>
              <a:ext uri="{FF2B5EF4-FFF2-40B4-BE49-F238E27FC236}">
                <a16:creationId xmlns:a16="http://schemas.microsoft.com/office/drawing/2014/main" id="{AE08E652-A778-4350-9C1A-A269F47BE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86049" y="1950157"/>
            <a:ext cx="5747651" cy="4335029"/>
          </a:xfrm>
          <a:prstGeom prst="rect">
            <a:avLst/>
          </a:prstGeom>
        </p:spPr>
      </p:pic>
    </p:spTree>
    <p:extLst>
      <p:ext uri="{BB962C8B-B14F-4D97-AF65-F5344CB8AC3E}">
        <p14:creationId xmlns:p14="http://schemas.microsoft.com/office/powerpoint/2010/main" val="42562047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84F78-B4FB-4179-8468-E2E3985E0F56}"/>
              </a:ext>
            </a:extLst>
          </p:cNvPr>
          <p:cNvSpPr>
            <a:spLocks noGrp="1"/>
          </p:cNvSpPr>
          <p:nvPr>
            <p:ph type="title"/>
          </p:nvPr>
        </p:nvSpPr>
        <p:spPr/>
        <p:txBody>
          <a:bodyPr/>
          <a:lstStyle/>
          <a:p>
            <a:r>
              <a:rPr lang="en-US" sz="3600" dirty="0"/>
              <a:t>ROC curve for the best model</a:t>
            </a:r>
            <a:endParaRPr lang="en-US" dirty="0"/>
          </a:p>
        </p:txBody>
      </p:sp>
      <p:pic>
        <p:nvPicPr>
          <p:cNvPr id="6" name="Content Placeholder 5" descr="Chart, line chart&#10;&#10;Description automatically generated">
            <a:extLst>
              <a:ext uri="{FF2B5EF4-FFF2-40B4-BE49-F238E27FC236}">
                <a16:creationId xmlns:a16="http://schemas.microsoft.com/office/drawing/2014/main" id="{427E7971-FB44-452A-B5DD-7A5340CCAB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907126" y="786383"/>
            <a:ext cx="6899487" cy="5158232"/>
          </a:xfrm>
        </p:spPr>
      </p:pic>
      <p:sp>
        <p:nvSpPr>
          <p:cNvPr id="4" name="Text Placeholder 3">
            <a:extLst>
              <a:ext uri="{FF2B5EF4-FFF2-40B4-BE49-F238E27FC236}">
                <a16:creationId xmlns:a16="http://schemas.microsoft.com/office/drawing/2014/main" id="{A8C116CD-FE75-4D3A-9ADA-2E04A3771C59}"/>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Backward selection</a:t>
            </a:r>
          </a:p>
          <a:p>
            <a:pPr marL="285750" indent="-285750">
              <a:buFont typeface="Arial" panose="020B0604020202020204" pitchFamily="34" charset="0"/>
              <a:buChar char="•"/>
            </a:pPr>
            <a:r>
              <a:rPr lang="en-US" dirty="0"/>
              <a:t>Logit link</a:t>
            </a:r>
          </a:p>
          <a:p>
            <a:pPr marL="285750" indent="-285750">
              <a:buFont typeface="Arial" panose="020B0604020202020204" pitchFamily="34" charset="0"/>
              <a:buChar char="•"/>
            </a:pPr>
            <a:r>
              <a:rPr lang="en-US" dirty="0"/>
              <a:t>AIC : 208.8</a:t>
            </a:r>
          </a:p>
        </p:txBody>
      </p:sp>
    </p:spTree>
    <p:extLst>
      <p:ext uri="{BB962C8B-B14F-4D97-AF65-F5344CB8AC3E}">
        <p14:creationId xmlns:p14="http://schemas.microsoft.com/office/powerpoint/2010/main" val="1997618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4D892-E4A7-4224-8A9E-AF4DEF0C48EE}"/>
              </a:ext>
            </a:extLst>
          </p:cNvPr>
          <p:cNvSpPr>
            <a:spLocks noGrp="1"/>
          </p:cNvSpPr>
          <p:nvPr>
            <p:ph type="title"/>
          </p:nvPr>
        </p:nvSpPr>
        <p:spPr/>
        <p:txBody>
          <a:bodyPr/>
          <a:lstStyle/>
          <a:p>
            <a:r>
              <a:rPr lang="en-US" dirty="0"/>
              <a:t>Predictive Power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6B3505-AB77-458B-90B9-9A4FB00E32C6}"/>
                  </a:ext>
                </a:extLst>
              </p:cNvPr>
              <p:cNvSpPr>
                <a:spLocks noGrp="1"/>
              </p:cNvSpPr>
              <p:nvPr>
                <p:ph idx="1"/>
              </p:nvPr>
            </p:nvSpPr>
            <p:spPr/>
            <p:txBody>
              <a:bodyPr/>
              <a:lstStyle/>
              <a:p>
                <a:pPr>
                  <a:buFont typeface="Wingdings" panose="05000000000000000000" pitchFamily="2" charset="2"/>
                  <a:buChar char="v"/>
                </a:pPr>
                <a:r>
                  <a:rPr lang="en-US" dirty="0"/>
                  <a:t> The measure of predictive power (correlation between y and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oMath>
                </a14:m>
                <a:r>
                  <a:rPr lang="en-US" dirty="0"/>
                  <a:t>hat) is 0.493</a:t>
                </a:r>
              </a:p>
              <a:p>
                <a:pPr>
                  <a:buFont typeface="Wingdings" panose="05000000000000000000" pitchFamily="2" charset="2"/>
                  <a:buChar char="v"/>
                </a:pPr>
                <a:r>
                  <a:rPr lang="en-US" dirty="0"/>
                  <a:t> The measure of predictive power </a:t>
                </a:r>
                <a14:m>
                  <m:oMath xmlns:m="http://schemas.openxmlformats.org/officeDocument/2006/math">
                    <m:f>
                      <m:fPr>
                        <m:ctrlPr>
                          <a:rPr lang="en-US" i="1" smtClean="0">
                            <a:latin typeface="Cambria Math" panose="02040503050406030204" pitchFamily="18" charset="0"/>
                          </a:rPr>
                        </m:ctrlPr>
                      </m:fPr>
                      <m:num>
                        <m:sSub>
                          <m:sSubPr>
                            <m:ctrlPr>
                              <a:rPr lang="pt-BR"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𝑀</m:t>
                            </m:r>
                          </m:sub>
                        </m:sSub>
                        <m:r>
                          <a:rPr lang="en-US" i="1">
                            <a:latin typeface="Cambria Math" panose="02040503050406030204" pitchFamily="18" charset="0"/>
                          </a:rPr>
                          <m:t>−</m:t>
                        </m:r>
                        <m:sSub>
                          <m:sSubPr>
                            <m:ctrlPr>
                              <a:rPr lang="pt-BR"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0</m:t>
                            </m:r>
                          </m:sub>
                        </m:sSub>
                      </m:num>
                      <m:den>
                        <m:sSub>
                          <m:sSubPr>
                            <m:ctrlPr>
                              <a:rPr lang="pt-BR"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𝑆</m:t>
                            </m:r>
                          </m:sub>
                        </m:sSub>
                        <m:r>
                          <a:rPr lang="en-US" i="1">
                            <a:latin typeface="Cambria Math" panose="02040503050406030204" pitchFamily="18" charset="0"/>
                          </a:rPr>
                          <m:t>−</m:t>
                        </m:r>
                        <m:sSub>
                          <m:sSubPr>
                            <m:ctrlPr>
                              <a:rPr lang="pt-BR"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0</m:t>
                            </m:r>
                          </m:sub>
                        </m:sSub>
                      </m:den>
                    </m:f>
                  </m:oMath>
                </a14:m>
                <a:r>
                  <a:rPr lang="en-US" dirty="0"/>
                  <a:t> is 0.213</a:t>
                </a:r>
              </a:p>
            </p:txBody>
          </p:sp>
        </mc:Choice>
        <mc:Fallback xmlns="">
          <p:sp>
            <p:nvSpPr>
              <p:cNvPr id="3" name="Content Placeholder 2">
                <a:extLst>
                  <a:ext uri="{FF2B5EF4-FFF2-40B4-BE49-F238E27FC236}">
                    <a16:creationId xmlns:a16="http://schemas.microsoft.com/office/drawing/2014/main" id="{AE6B3505-AB77-458B-90B9-9A4FB00E32C6}"/>
                  </a:ext>
                </a:extLst>
              </p:cNvPr>
              <p:cNvSpPr>
                <a:spLocks noGrp="1" noRot="1" noChangeAspect="1" noMove="1" noResize="1" noEditPoints="1" noAdjustHandles="1" noChangeArrowheads="1" noChangeShapeType="1" noTextEdit="1"/>
              </p:cNvSpPr>
              <p:nvPr>
                <p:ph idx="1"/>
              </p:nvPr>
            </p:nvSpPr>
            <p:spPr>
              <a:blipFill>
                <a:blip r:embed="rId2"/>
                <a:stretch>
                  <a:fillRect l="-1333" t="-810"/>
                </a:stretch>
              </a:blipFill>
            </p:spPr>
            <p:txBody>
              <a:bodyPr/>
              <a:lstStyle/>
              <a:p>
                <a:r>
                  <a:rPr lang="en-US">
                    <a:noFill/>
                  </a:rPr>
                  <a:t> </a:t>
                </a:r>
              </a:p>
            </p:txBody>
          </p:sp>
        </mc:Fallback>
      </mc:AlternateContent>
      <p:pic>
        <p:nvPicPr>
          <p:cNvPr id="7" name="Picture 6" descr="Graphical user interface, text, application, email&#10;&#10;Description automatically generated">
            <a:extLst>
              <a:ext uri="{FF2B5EF4-FFF2-40B4-BE49-F238E27FC236}">
                <a16:creationId xmlns:a16="http://schemas.microsoft.com/office/drawing/2014/main" id="{9AAF7399-35B4-4301-8381-3DB11D1CA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7280" y="3535943"/>
            <a:ext cx="5706271" cy="1867161"/>
          </a:xfrm>
          <a:prstGeom prst="rect">
            <a:avLst/>
          </a:prstGeom>
        </p:spPr>
      </p:pic>
    </p:spTree>
    <p:extLst>
      <p:ext uri="{BB962C8B-B14F-4D97-AF65-F5344CB8AC3E}">
        <p14:creationId xmlns:p14="http://schemas.microsoft.com/office/powerpoint/2010/main" val="41491601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C91F1-613B-42E4-A0F0-F937DAE2E119}"/>
              </a:ext>
            </a:extLst>
          </p:cNvPr>
          <p:cNvSpPr>
            <a:spLocks noGrp="1"/>
          </p:cNvSpPr>
          <p:nvPr>
            <p:ph type="title"/>
          </p:nvPr>
        </p:nvSpPr>
        <p:spPr/>
        <p:txBody>
          <a:bodyPr/>
          <a:lstStyle/>
          <a:p>
            <a:r>
              <a:rPr lang="en-US" dirty="0"/>
              <a:t>Max accuracy when cutoff = 0.5</a:t>
            </a:r>
          </a:p>
        </p:txBody>
      </p:sp>
      <p:pic>
        <p:nvPicPr>
          <p:cNvPr id="6" name="Picture 5" descr="Graphical user interface, text, application, email&#10;&#10;Description automatically generated">
            <a:extLst>
              <a:ext uri="{FF2B5EF4-FFF2-40B4-BE49-F238E27FC236}">
                <a16:creationId xmlns:a16="http://schemas.microsoft.com/office/drawing/2014/main" id="{186879D0-5EEA-4782-8CA0-C8E69FC3E7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2514" y="1939819"/>
            <a:ext cx="4653166" cy="4450470"/>
          </a:xfrm>
          <a:prstGeom prst="rect">
            <a:avLst/>
          </a:prstGeom>
        </p:spPr>
      </p:pic>
      <p:graphicFrame>
        <p:nvGraphicFramePr>
          <p:cNvPr id="9" name="Table 9">
            <a:extLst>
              <a:ext uri="{FF2B5EF4-FFF2-40B4-BE49-F238E27FC236}">
                <a16:creationId xmlns:a16="http://schemas.microsoft.com/office/drawing/2014/main" id="{5CC9A12E-EB85-4BF1-9884-39CE8884ABC2}"/>
              </a:ext>
            </a:extLst>
          </p:cNvPr>
          <p:cNvGraphicFramePr>
            <a:graphicFrameLocks noGrp="1"/>
          </p:cNvGraphicFramePr>
          <p:nvPr>
            <p:ph idx="1"/>
            <p:extLst>
              <p:ext uri="{D42A27DB-BD31-4B8C-83A1-F6EECF244321}">
                <p14:modId xmlns:p14="http://schemas.microsoft.com/office/powerpoint/2010/main" val="4086593889"/>
              </p:ext>
            </p:extLst>
          </p:nvPr>
        </p:nvGraphicFramePr>
        <p:xfrm>
          <a:off x="1275639" y="2846025"/>
          <a:ext cx="4263314" cy="2274616"/>
        </p:xfrm>
        <a:graphic>
          <a:graphicData uri="http://schemas.openxmlformats.org/drawingml/2006/table">
            <a:tbl>
              <a:tblPr firstRow="1" bandRow="1">
                <a:tableStyleId>{5C22544A-7EE6-4342-B048-85BDC9FD1C3A}</a:tableStyleId>
              </a:tblPr>
              <a:tblGrid>
                <a:gridCol w="2131657">
                  <a:extLst>
                    <a:ext uri="{9D8B030D-6E8A-4147-A177-3AD203B41FA5}">
                      <a16:colId xmlns:a16="http://schemas.microsoft.com/office/drawing/2014/main" val="2196847915"/>
                    </a:ext>
                  </a:extLst>
                </a:gridCol>
                <a:gridCol w="2131657">
                  <a:extLst>
                    <a:ext uri="{9D8B030D-6E8A-4147-A177-3AD203B41FA5}">
                      <a16:colId xmlns:a16="http://schemas.microsoft.com/office/drawing/2014/main" val="4207197118"/>
                    </a:ext>
                  </a:extLst>
                </a:gridCol>
              </a:tblGrid>
              <a:tr h="568654">
                <a:tc>
                  <a:txBody>
                    <a:bodyPr/>
                    <a:lstStyle/>
                    <a:p>
                      <a:pPr algn="ctr"/>
                      <a:r>
                        <a:rPr lang="en-US" dirty="0"/>
                        <a:t>Metrics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Cutoff = 0.5</a:t>
                      </a:r>
                    </a:p>
                  </a:txBody>
                  <a:tcPr/>
                </a:tc>
                <a:extLst>
                  <a:ext uri="{0D108BD9-81ED-4DB2-BD59-A6C34878D82A}">
                    <a16:rowId xmlns:a16="http://schemas.microsoft.com/office/drawing/2014/main" val="4256729836"/>
                  </a:ext>
                </a:extLst>
              </a:tr>
              <a:tr h="568654">
                <a:tc>
                  <a:txBody>
                    <a:bodyPr/>
                    <a:lstStyle/>
                    <a:p>
                      <a:pPr algn="ctr"/>
                      <a:r>
                        <a:rPr lang="en-US" dirty="0"/>
                        <a:t>Sensitivity</a:t>
                      </a:r>
                    </a:p>
                  </a:txBody>
                  <a:tcPr/>
                </a:tc>
                <a:tc>
                  <a:txBody>
                    <a:bodyPr/>
                    <a:lstStyle/>
                    <a:p>
                      <a:pPr algn="ctr"/>
                      <a:r>
                        <a:rPr lang="en-US" dirty="0"/>
                        <a:t>49.2%</a:t>
                      </a:r>
                    </a:p>
                  </a:txBody>
                  <a:tcPr/>
                </a:tc>
                <a:extLst>
                  <a:ext uri="{0D108BD9-81ED-4DB2-BD59-A6C34878D82A}">
                    <a16:rowId xmlns:a16="http://schemas.microsoft.com/office/drawing/2014/main" val="1519316815"/>
                  </a:ext>
                </a:extLst>
              </a:tr>
              <a:tr h="568654">
                <a:tc>
                  <a:txBody>
                    <a:bodyPr/>
                    <a:lstStyle/>
                    <a:p>
                      <a:pPr algn="ctr"/>
                      <a:r>
                        <a:rPr lang="en-US" dirty="0"/>
                        <a:t>Specificity</a:t>
                      </a:r>
                    </a:p>
                  </a:txBody>
                  <a:tcPr/>
                </a:tc>
                <a:tc>
                  <a:txBody>
                    <a:bodyPr/>
                    <a:lstStyle/>
                    <a:p>
                      <a:pPr algn="ctr"/>
                      <a:r>
                        <a:rPr lang="en-US" dirty="0"/>
                        <a:t>89.2%</a:t>
                      </a:r>
                    </a:p>
                  </a:txBody>
                  <a:tcPr/>
                </a:tc>
                <a:extLst>
                  <a:ext uri="{0D108BD9-81ED-4DB2-BD59-A6C34878D82A}">
                    <a16:rowId xmlns:a16="http://schemas.microsoft.com/office/drawing/2014/main" val="1447980072"/>
                  </a:ext>
                </a:extLst>
              </a:tr>
              <a:tr h="568654">
                <a:tc>
                  <a:txBody>
                    <a:bodyPr/>
                    <a:lstStyle/>
                    <a:p>
                      <a:pPr algn="ctr"/>
                      <a:r>
                        <a:rPr lang="en-US" dirty="0"/>
                        <a:t>Overall Accuracy</a:t>
                      </a:r>
                    </a:p>
                  </a:txBody>
                  <a:tcPr/>
                </a:tc>
                <a:tc>
                  <a:txBody>
                    <a:bodyPr/>
                    <a:lstStyle/>
                    <a:p>
                      <a:pPr algn="ctr"/>
                      <a:r>
                        <a:rPr lang="en-US" dirty="0"/>
                        <a:t>76.7%</a:t>
                      </a:r>
                    </a:p>
                  </a:txBody>
                  <a:tcPr/>
                </a:tc>
                <a:extLst>
                  <a:ext uri="{0D108BD9-81ED-4DB2-BD59-A6C34878D82A}">
                    <a16:rowId xmlns:a16="http://schemas.microsoft.com/office/drawing/2014/main" val="2553733290"/>
                  </a:ext>
                </a:extLst>
              </a:tr>
            </a:tbl>
          </a:graphicData>
        </a:graphic>
      </p:graphicFrame>
    </p:spTree>
    <p:extLst>
      <p:ext uri="{BB962C8B-B14F-4D97-AF65-F5344CB8AC3E}">
        <p14:creationId xmlns:p14="http://schemas.microsoft.com/office/powerpoint/2010/main" val="27263259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5699-A85D-4E20-AF68-995ACA86A283}"/>
              </a:ext>
            </a:extLst>
          </p:cNvPr>
          <p:cNvSpPr>
            <a:spLocks noGrp="1"/>
          </p:cNvSpPr>
          <p:nvPr>
            <p:ph type="title"/>
          </p:nvPr>
        </p:nvSpPr>
        <p:spPr/>
        <p:txBody>
          <a:bodyPr>
            <a:normAutofit/>
          </a:bodyPr>
          <a:lstStyle/>
          <a:p>
            <a:r>
              <a:rPr lang="en-US" sz="3200" dirty="0"/>
              <a:t>Why do we value sensitivity more than specificity?</a:t>
            </a:r>
          </a:p>
        </p:txBody>
      </p:sp>
    </p:spTree>
    <p:extLst>
      <p:ext uri="{BB962C8B-B14F-4D97-AF65-F5344CB8AC3E}">
        <p14:creationId xmlns:p14="http://schemas.microsoft.com/office/powerpoint/2010/main" val="150198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059D6-3B05-46F2-8F18-02C32116267F}"/>
              </a:ext>
            </a:extLst>
          </p:cNvPr>
          <p:cNvSpPr>
            <a:spLocks noGrp="1"/>
          </p:cNvSpPr>
          <p:nvPr>
            <p:ph type="title"/>
          </p:nvPr>
        </p:nvSpPr>
        <p:spPr/>
        <p:txBody>
          <a:bodyPr>
            <a:normAutofit/>
          </a:bodyPr>
          <a:lstStyle/>
          <a:p>
            <a:r>
              <a:rPr lang="en-US" sz="3600" dirty="0"/>
              <a:t>Adjusting the cutoff to get higher sensitivity</a:t>
            </a:r>
          </a:p>
        </p:txBody>
      </p:sp>
      <p:graphicFrame>
        <p:nvGraphicFramePr>
          <p:cNvPr id="4" name="Table 4">
            <a:extLst>
              <a:ext uri="{FF2B5EF4-FFF2-40B4-BE49-F238E27FC236}">
                <a16:creationId xmlns:a16="http://schemas.microsoft.com/office/drawing/2014/main" id="{85006280-AA20-41C9-80F5-BACC1336FFB6}"/>
              </a:ext>
            </a:extLst>
          </p:cNvPr>
          <p:cNvGraphicFramePr>
            <a:graphicFrameLocks noGrp="1"/>
          </p:cNvGraphicFramePr>
          <p:nvPr>
            <p:ph idx="1"/>
            <p:extLst>
              <p:ext uri="{D42A27DB-BD31-4B8C-83A1-F6EECF244321}">
                <p14:modId xmlns:p14="http://schemas.microsoft.com/office/powerpoint/2010/main" val="4114747497"/>
              </p:ext>
            </p:extLst>
          </p:nvPr>
        </p:nvGraphicFramePr>
        <p:xfrm>
          <a:off x="1673248" y="2675759"/>
          <a:ext cx="8845503" cy="2194560"/>
        </p:xfrm>
        <a:graphic>
          <a:graphicData uri="http://schemas.openxmlformats.org/drawingml/2006/table">
            <a:tbl>
              <a:tblPr firstRow="1" bandRow="1">
                <a:tableStyleId>{5C22544A-7EE6-4342-B048-85BDC9FD1C3A}</a:tableStyleId>
              </a:tblPr>
              <a:tblGrid>
                <a:gridCol w="2948501">
                  <a:extLst>
                    <a:ext uri="{9D8B030D-6E8A-4147-A177-3AD203B41FA5}">
                      <a16:colId xmlns:a16="http://schemas.microsoft.com/office/drawing/2014/main" val="3845269530"/>
                    </a:ext>
                  </a:extLst>
                </a:gridCol>
                <a:gridCol w="2948501">
                  <a:extLst>
                    <a:ext uri="{9D8B030D-6E8A-4147-A177-3AD203B41FA5}">
                      <a16:colId xmlns:a16="http://schemas.microsoft.com/office/drawing/2014/main" val="4221183800"/>
                    </a:ext>
                  </a:extLst>
                </a:gridCol>
                <a:gridCol w="2948501">
                  <a:extLst>
                    <a:ext uri="{9D8B030D-6E8A-4147-A177-3AD203B41FA5}">
                      <a16:colId xmlns:a16="http://schemas.microsoft.com/office/drawing/2014/main" val="987062023"/>
                    </a:ext>
                  </a:extLst>
                </a:gridCol>
              </a:tblGrid>
              <a:tr h="259985">
                <a:tc>
                  <a:txBody>
                    <a:bodyPr/>
                    <a:lstStyle/>
                    <a:p>
                      <a:pPr algn="ctr"/>
                      <a:r>
                        <a:rPr lang="en-US" dirty="0"/>
                        <a:t>Sensitivity</a:t>
                      </a:r>
                    </a:p>
                  </a:txBody>
                  <a:tcPr/>
                </a:tc>
                <a:tc>
                  <a:txBody>
                    <a:bodyPr/>
                    <a:lstStyle/>
                    <a:p>
                      <a:pPr algn="ctr"/>
                      <a:r>
                        <a:rPr lang="en-US" dirty="0"/>
                        <a:t>Cutoff</a:t>
                      </a:r>
                    </a:p>
                  </a:txBody>
                  <a:tcPr/>
                </a:tc>
                <a:tc>
                  <a:txBody>
                    <a:bodyPr/>
                    <a:lstStyle/>
                    <a:p>
                      <a:pPr algn="ctr"/>
                      <a:r>
                        <a:rPr lang="en-US" dirty="0"/>
                        <a:t>Specificity</a:t>
                      </a:r>
                    </a:p>
                  </a:txBody>
                  <a:tcPr/>
                </a:tc>
                <a:extLst>
                  <a:ext uri="{0D108BD9-81ED-4DB2-BD59-A6C34878D82A}">
                    <a16:rowId xmlns:a16="http://schemas.microsoft.com/office/drawing/2014/main" val="2667390973"/>
                  </a:ext>
                </a:extLst>
              </a:tr>
              <a:tr h="259985">
                <a:tc>
                  <a:txBody>
                    <a:bodyPr/>
                    <a:lstStyle/>
                    <a:p>
                      <a:pPr algn="ctr"/>
                      <a:r>
                        <a:rPr lang="en-US" dirty="0"/>
                        <a:t>80%</a:t>
                      </a:r>
                    </a:p>
                  </a:txBody>
                  <a:tcPr/>
                </a:tc>
                <a:tc>
                  <a:txBody>
                    <a:bodyPr/>
                    <a:lstStyle/>
                    <a:p>
                      <a:pPr algn="ctr"/>
                      <a:r>
                        <a:rPr lang="en-US" dirty="0"/>
                        <a:t>0.27</a:t>
                      </a:r>
                    </a:p>
                  </a:txBody>
                  <a:tcPr/>
                </a:tc>
                <a:tc>
                  <a:txBody>
                    <a:bodyPr/>
                    <a:lstStyle/>
                    <a:p>
                      <a:pPr algn="ctr"/>
                      <a:r>
                        <a:rPr lang="en-US" dirty="0"/>
                        <a:t>67%</a:t>
                      </a:r>
                    </a:p>
                  </a:txBody>
                  <a:tcPr/>
                </a:tc>
                <a:extLst>
                  <a:ext uri="{0D108BD9-81ED-4DB2-BD59-A6C34878D82A}">
                    <a16:rowId xmlns:a16="http://schemas.microsoft.com/office/drawing/2014/main" val="3759767783"/>
                  </a:ext>
                </a:extLst>
              </a:tr>
              <a:tr h="259985">
                <a:tc>
                  <a:txBody>
                    <a:bodyPr/>
                    <a:lstStyle/>
                    <a:p>
                      <a:pPr algn="ctr"/>
                      <a:r>
                        <a:rPr lang="en-US" dirty="0"/>
                        <a:t>90%</a:t>
                      </a:r>
                    </a:p>
                  </a:txBody>
                  <a:tcPr/>
                </a:tc>
                <a:tc>
                  <a:txBody>
                    <a:bodyPr/>
                    <a:lstStyle/>
                    <a:p>
                      <a:pPr algn="ctr"/>
                      <a:r>
                        <a:rPr lang="en-US" dirty="0"/>
                        <a:t>0.19</a:t>
                      </a:r>
                    </a:p>
                  </a:txBody>
                  <a:tcPr/>
                </a:tc>
                <a:tc>
                  <a:txBody>
                    <a:bodyPr/>
                    <a:lstStyle/>
                    <a:p>
                      <a:pPr algn="ctr"/>
                      <a:r>
                        <a:rPr lang="en-US" dirty="0"/>
                        <a:t>50%</a:t>
                      </a:r>
                    </a:p>
                  </a:txBody>
                  <a:tcPr/>
                </a:tc>
                <a:extLst>
                  <a:ext uri="{0D108BD9-81ED-4DB2-BD59-A6C34878D82A}">
                    <a16:rowId xmlns:a16="http://schemas.microsoft.com/office/drawing/2014/main" val="878220169"/>
                  </a:ext>
                </a:extLst>
              </a:tr>
              <a:tr h="259985">
                <a:tc>
                  <a:txBody>
                    <a:bodyPr/>
                    <a:lstStyle/>
                    <a:p>
                      <a:pPr algn="ctr"/>
                      <a:r>
                        <a:rPr lang="en-US" dirty="0"/>
                        <a:t>95%</a:t>
                      </a:r>
                    </a:p>
                  </a:txBody>
                  <a:tcPr/>
                </a:tc>
                <a:tc>
                  <a:txBody>
                    <a:bodyPr/>
                    <a:lstStyle/>
                    <a:p>
                      <a:pPr algn="ctr"/>
                      <a:r>
                        <a:rPr lang="en-US" dirty="0"/>
                        <a:t>0.13</a:t>
                      </a:r>
                    </a:p>
                  </a:txBody>
                  <a:tcPr/>
                </a:tc>
                <a:tc>
                  <a:txBody>
                    <a:bodyPr/>
                    <a:lstStyle/>
                    <a:p>
                      <a:pPr algn="ctr"/>
                      <a:r>
                        <a:rPr lang="en-US" dirty="0"/>
                        <a:t>32%</a:t>
                      </a:r>
                    </a:p>
                  </a:txBody>
                  <a:tcPr/>
                </a:tc>
                <a:extLst>
                  <a:ext uri="{0D108BD9-81ED-4DB2-BD59-A6C34878D82A}">
                    <a16:rowId xmlns:a16="http://schemas.microsoft.com/office/drawing/2014/main" val="3474345750"/>
                  </a:ext>
                </a:extLst>
              </a:tr>
              <a:tr h="259985">
                <a:tc>
                  <a:txBody>
                    <a:bodyPr/>
                    <a:lstStyle/>
                    <a:p>
                      <a:pPr algn="ctr"/>
                      <a:r>
                        <a:rPr lang="en-US" dirty="0"/>
                        <a:t>98%</a:t>
                      </a:r>
                    </a:p>
                  </a:txBody>
                  <a:tcPr/>
                </a:tc>
                <a:tc>
                  <a:txBody>
                    <a:bodyPr/>
                    <a:lstStyle/>
                    <a:p>
                      <a:pPr algn="ctr"/>
                      <a:r>
                        <a:rPr lang="en-US" dirty="0"/>
                        <a:t>0.11</a:t>
                      </a:r>
                    </a:p>
                  </a:txBody>
                  <a:tcPr/>
                </a:tc>
                <a:tc>
                  <a:txBody>
                    <a:bodyPr/>
                    <a:lstStyle/>
                    <a:p>
                      <a:pPr algn="ctr"/>
                      <a:r>
                        <a:rPr lang="en-US" dirty="0"/>
                        <a:t>30%</a:t>
                      </a:r>
                    </a:p>
                  </a:txBody>
                  <a:tcPr/>
                </a:tc>
                <a:extLst>
                  <a:ext uri="{0D108BD9-81ED-4DB2-BD59-A6C34878D82A}">
                    <a16:rowId xmlns:a16="http://schemas.microsoft.com/office/drawing/2014/main" val="2931300724"/>
                  </a:ext>
                </a:extLst>
              </a:tr>
              <a:tr h="259985">
                <a:tc>
                  <a:txBody>
                    <a:bodyPr/>
                    <a:lstStyle/>
                    <a:p>
                      <a:pPr algn="ctr"/>
                      <a:r>
                        <a:rPr lang="en-US" dirty="0"/>
                        <a:t>100%</a:t>
                      </a:r>
                    </a:p>
                  </a:txBody>
                  <a:tcPr/>
                </a:tc>
                <a:tc>
                  <a:txBody>
                    <a:bodyPr/>
                    <a:lstStyle/>
                    <a:p>
                      <a:pPr algn="ctr"/>
                      <a:r>
                        <a:rPr lang="en-US" dirty="0"/>
                        <a:t>0.05</a:t>
                      </a:r>
                    </a:p>
                  </a:txBody>
                  <a:tcPr/>
                </a:tc>
                <a:tc>
                  <a:txBody>
                    <a:bodyPr/>
                    <a:lstStyle/>
                    <a:p>
                      <a:pPr algn="ctr"/>
                      <a:r>
                        <a:rPr lang="en-US" dirty="0"/>
                        <a:t>17%</a:t>
                      </a:r>
                    </a:p>
                  </a:txBody>
                  <a:tcPr/>
                </a:tc>
                <a:extLst>
                  <a:ext uri="{0D108BD9-81ED-4DB2-BD59-A6C34878D82A}">
                    <a16:rowId xmlns:a16="http://schemas.microsoft.com/office/drawing/2014/main" val="891712625"/>
                  </a:ext>
                </a:extLst>
              </a:tr>
            </a:tbl>
          </a:graphicData>
        </a:graphic>
      </p:graphicFrame>
    </p:spTree>
    <p:extLst>
      <p:ext uri="{BB962C8B-B14F-4D97-AF65-F5344CB8AC3E}">
        <p14:creationId xmlns:p14="http://schemas.microsoft.com/office/powerpoint/2010/main" val="2639426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28B8-F904-416C-8159-1FC32AAA7860}"/>
              </a:ext>
            </a:extLst>
          </p:cNvPr>
          <p:cNvSpPr>
            <a:spLocks noGrp="1"/>
          </p:cNvSpPr>
          <p:nvPr>
            <p:ph type="title"/>
          </p:nvPr>
        </p:nvSpPr>
        <p:spPr/>
        <p:txBody>
          <a:bodyPr/>
          <a:lstStyle/>
          <a:p>
            <a:r>
              <a:rPr lang="en-US" dirty="0"/>
              <a:t>5. Summary</a:t>
            </a:r>
          </a:p>
        </p:txBody>
      </p:sp>
      <p:sp>
        <p:nvSpPr>
          <p:cNvPr id="3" name="Content Placeholder 2">
            <a:extLst>
              <a:ext uri="{FF2B5EF4-FFF2-40B4-BE49-F238E27FC236}">
                <a16:creationId xmlns:a16="http://schemas.microsoft.com/office/drawing/2014/main" id="{88F740E1-07F9-4D80-8084-8DB83B22A821}"/>
              </a:ext>
            </a:extLst>
          </p:cNvPr>
          <p:cNvSpPr>
            <a:spLocks noGrp="1"/>
          </p:cNvSpPr>
          <p:nvPr>
            <p:ph idx="1"/>
          </p:nvPr>
        </p:nvSpPr>
        <p:spPr/>
        <p:txBody>
          <a:bodyPr/>
          <a:lstStyle/>
          <a:p>
            <a:pPr>
              <a:buFont typeface="Wingdings" panose="05000000000000000000" pitchFamily="2" charset="2"/>
              <a:buChar char="v"/>
            </a:pPr>
            <a:r>
              <a:rPr lang="en-US" dirty="0"/>
              <a:t> In our best model, `</a:t>
            </a:r>
            <a:r>
              <a:rPr lang="en-US" dirty="0" err="1"/>
              <a:t>lwt</a:t>
            </a:r>
            <a:r>
              <a:rPr lang="en-US" dirty="0"/>
              <a:t>`, `</a:t>
            </a:r>
            <a:r>
              <a:rPr lang="en-US" dirty="0" err="1"/>
              <a:t>ptl</a:t>
            </a:r>
            <a:r>
              <a:rPr lang="en-US" dirty="0"/>
              <a:t>`, `</a:t>
            </a:r>
            <a:r>
              <a:rPr lang="en-US" dirty="0" err="1"/>
              <a:t>ht</a:t>
            </a:r>
            <a:r>
              <a:rPr lang="en-US" dirty="0"/>
              <a:t>`, `</a:t>
            </a:r>
            <a:r>
              <a:rPr lang="en-US" dirty="0" err="1"/>
              <a:t>ftv</a:t>
            </a:r>
            <a:r>
              <a:rPr lang="en-US" dirty="0"/>
              <a:t>`, `</a:t>
            </a:r>
            <a:r>
              <a:rPr lang="en-US" dirty="0" err="1"/>
              <a:t>age:ftv</a:t>
            </a:r>
            <a:r>
              <a:rPr lang="en-US" dirty="0"/>
              <a:t>`, `</a:t>
            </a:r>
            <a:r>
              <a:rPr lang="en-US" dirty="0" err="1"/>
              <a:t>ptl:ui</a:t>
            </a:r>
            <a:r>
              <a:rPr lang="en-US" dirty="0"/>
              <a:t>` are significant factors that are associated with low infant birthweight at a level of 0.05</a:t>
            </a:r>
          </a:p>
          <a:p>
            <a:pPr>
              <a:buFont typeface="Wingdings" panose="05000000000000000000" pitchFamily="2" charset="2"/>
              <a:buChar char="v"/>
            </a:pPr>
            <a:r>
              <a:rPr lang="en-US" dirty="0"/>
              <a:t> The factors of our best model to predict low birthweight are obtained from backward selection. The best link function is the logit link due to its highest area under the ROC curve. The AIC score of our best model is 208.8</a:t>
            </a:r>
          </a:p>
          <a:p>
            <a:pPr>
              <a:buFont typeface="Wingdings" panose="05000000000000000000" pitchFamily="2" charset="2"/>
              <a:buChar char="v"/>
            </a:pPr>
            <a:r>
              <a:rPr lang="en-US" dirty="0"/>
              <a:t> The highest accuracy (77%) is achieved when we used a cutoff of 0.5, with a 50% sensitivity and 90% specificity.</a:t>
            </a:r>
          </a:p>
          <a:p>
            <a:pPr>
              <a:buFont typeface="Wingdings" panose="05000000000000000000" pitchFamily="2" charset="2"/>
              <a:buChar char="v"/>
            </a:pPr>
            <a:r>
              <a:rPr lang="en-US" dirty="0"/>
              <a:t> The predictive power of our best model is not very high, but we can always achieve higher sensitivity by sacrificing the specificity.</a:t>
            </a:r>
          </a:p>
        </p:txBody>
      </p:sp>
    </p:spTree>
    <p:extLst>
      <p:ext uri="{BB962C8B-B14F-4D97-AF65-F5344CB8AC3E}">
        <p14:creationId xmlns:p14="http://schemas.microsoft.com/office/powerpoint/2010/main" val="41613786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71C1D-C266-4B6A-A9AE-F32B0D52EF5E}"/>
              </a:ext>
            </a:extLst>
          </p:cNvPr>
          <p:cNvSpPr>
            <a:spLocks noGrp="1"/>
          </p:cNvSpPr>
          <p:nvPr>
            <p:ph type="title"/>
          </p:nvPr>
        </p:nvSpPr>
        <p:spPr/>
        <p:txBody>
          <a:bodyPr/>
          <a:lstStyle/>
          <a:p>
            <a:r>
              <a:rPr lang="en-US" dirty="0"/>
              <a:t>6. References</a:t>
            </a:r>
          </a:p>
        </p:txBody>
      </p:sp>
      <p:sp>
        <p:nvSpPr>
          <p:cNvPr id="3" name="Content Placeholder 2">
            <a:extLst>
              <a:ext uri="{FF2B5EF4-FFF2-40B4-BE49-F238E27FC236}">
                <a16:creationId xmlns:a16="http://schemas.microsoft.com/office/drawing/2014/main" id="{21A02927-5131-449A-AFB3-7D866594278F}"/>
              </a:ext>
            </a:extLst>
          </p:cNvPr>
          <p:cNvSpPr>
            <a:spLocks noGrp="1"/>
          </p:cNvSpPr>
          <p:nvPr>
            <p:ph idx="1"/>
          </p:nvPr>
        </p:nvSpPr>
        <p:spPr/>
        <p:txBody>
          <a:bodyPr/>
          <a:lstStyle/>
          <a:p>
            <a:endParaRPr lang="en-US" dirty="0"/>
          </a:p>
          <a:p>
            <a:r>
              <a:rPr lang="en-US" dirty="0"/>
              <a:t>https://www.marchofdimes.org/complications/low-birthweight.aspx</a:t>
            </a:r>
          </a:p>
          <a:p>
            <a:endParaRPr lang="en-US" dirty="0"/>
          </a:p>
          <a:p>
            <a:r>
              <a:rPr lang="en-US" dirty="0"/>
              <a:t>https://en.wikipedia.org/wiki/Low_birth_weight</a:t>
            </a:r>
          </a:p>
        </p:txBody>
      </p:sp>
    </p:spTree>
    <p:extLst>
      <p:ext uri="{BB962C8B-B14F-4D97-AF65-F5344CB8AC3E}">
        <p14:creationId xmlns:p14="http://schemas.microsoft.com/office/powerpoint/2010/main" val="36778704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7" name="Rectangle 46">
            <a:extLst>
              <a:ext uri="{FF2B5EF4-FFF2-40B4-BE49-F238E27FC236}">
                <a16:creationId xmlns:a16="http://schemas.microsoft.com/office/drawing/2014/main" id="{FBDCECDC-EEE3-4128-AA5E-82A8C08796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1097280" y="758952"/>
            <a:ext cx="10058400" cy="3892168"/>
          </a:xfrm>
        </p:spPr>
        <p:txBody>
          <a:bodyPr anchor="ctr">
            <a:normAutofit/>
          </a:bodyPr>
          <a:lstStyle/>
          <a:p>
            <a:pPr lvl="0"/>
            <a:r>
              <a:rPr lang="en-US" sz="4800" i="1" dirty="0">
                <a:solidFill>
                  <a:srgbClr val="FFFFFF"/>
                </a:solidFill>
              </a:rPr>
              <a:t>Thanks for watching!</a:t>
            </a:r>
          </a:p>
        </p:txBody>
      </p:sp>
      <p:sp>
        <p:nvSpPr>
          <p:cNvPr id="49" name="Rectangle 48">
            <a:extLst>
              <a:ext uri="{FF2B5EF4-FFF2-40B4-BE49-F238E27FC236}">
                <a16:creationId xmlns:a16="http://schemas.microsoft.com/office/drawing/2014/main" id="{4260EDE0-989C-4E16-AF94-F652294D82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1100051" y="5225240"/>
            <a:ext cx="10058400" cy="1143000"/>
          </a:xfrm>
        </p:spPr>
        <p:txBody>
          <a:bodyPr>
            <a:normAutofit/>
          </a:bodyPr>
          <a:lstStyle/>
          <a:p>
            <a:r>
              <a:rPr lang="en-US" dirty="0">
                <a:solidFill>
                  <a:srgbClr val="FFFFFF"/>
                </a:solidFill>
              </a:rPr>
              <a:t>Have a nice summer break!</a:t>
            </a:r>
          </a:p>
        </p:txBody>
      </p:sp>
    </p:spTree>
    <p:extLst>
      <p:ext uri="{BB962C8B-B14F-4D97-AF65-F5344CB8AC3E}">
        <p14:creationId xmlns:p14="http://schemas.microsoft.com/office/powerpoint/2010/main" val="191714609"/>
      </p:ext>
    </p:extLst>
  </p:cSld>
  <p:clrMapOvr>
    <a:masterClrMapping/>
  </p:clrMapOvr>
</p:sld>
</file>

<file path=ppt/theme/theme1.xml><?xml version="1.0" encoding="utf-8"?>
<a:theme xmlns:a="http://schemas.openxmlformats.org/drawingml/2006/main" name="1_RetrospectVTI">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TWO.pptx" id="{769520F8-BFE5-4C8C-A7AA-375C025A91CE}" vid="{AEAFD717-D3C8-4034-8F7E-D5220B0CCEB8}"/>
    </a:ext>
  </a:extLst>
</a:theme>
</file>

<file path=docProps/app.xml><?xml version="1.0" encoding="utf-8"?>
<Properties xmlns="http://schemas.openxmlformats.org/officeDocument/2006/extended-properties" xmlns:vt="http://schemas.openxmlformats.org/officeDocument/2006/docPropsVTypes">
  <Template>{59CF3462-831C-4A9C-8708-E8914BF3F36E}tf56160789_win32</Template>
  <TotalTime>1088</TotalTime>
  <Words>1011</Words>
  <Application>Microsoft Office PowerPoint</Application>
  <PresentationFormat>Widescreen</PresentationFormat>
  <Paragraphs>228</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Bookman Old Style</vt:lpstr>
      <vt:lpstr>Calibri</vt:lpstr>
      <vt:lpstr>Cambria Math</vt:lpstr>
      <vt:lpstr>Franklin Gothic Book</vt:lpstr>
      <vt:lpstr>Wingdings</vt:lpstr>
      <vt:lpstr>1_RetrospectVTI</vt:lpstr>
      <vt:lpstr>STAT 426 Project 2 </vt:lpstr>
      <vt:lpstr>1. Introduction</vt:lpstr>
      <vt:lpstr>2. Data</vt:lpstr>
      <vt:lpstr>Continuous variables</vt:lpstr>
      <vt:lpstr>Binary variables</vt:lpstr>
      <vt:lpstr>Ordinal variables</vt:lpstr>
      <vt:lpstr>Nominal variable</vt:lpstr>
      <vt:lpstr>Correlations</vt:lpstr>
      <vt:lpstr>3. Question One (Method &amp; Result)</vt:lpstr>
      <vt:lpstr>PowerPoint Presentation</vt:lpstr>
      <vt:lpstr>PowerPoint Presentation</vt:lpstr>
      <vt:lpstr>Results</vt:lpstr>
      <vt:lpstr>4. Question Two (Method &amp; Result)</vt:lpstr>
      <vt:lpstr>Choose the best link function</vt:lpstr>
      <vt:lpstr>ROC curve for the best model</vt:lpstr>
      <vt:lpstr>Predictive Power</vt:lpstr>
      <vt:lpstr>Max accuracy when cutoff = 0.5</vt:lpstr>
      <vt:lpstr>Why do we value sensitivity more than specificity?</vt:lpstr>
      <vt:lpstr>Adjusting the cutoff to get higher sensitivity</vt:lpstr>
      <vt:lpstr>5. Summary</vt:lpstr>
      <vt:lpstr>6. References</vt:lpstr>
      <vt:lpstr>Thanks for watching!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 426 Final Project</dc:title>
  <dc:creator>Shuyu Jia</dc:creator>
  <cp:lastModifiedBy>Shuyu Jia</cp:lastModifiedBy>
  <cp:revision>22</cp:revision>
  <dcterms:created xsi:type="dcterms:W3CDTF">2021-05-11T05:38:34Z</dcterms:created>
  <dcterms:modified xsi:type="dcterms:W3CDTF">2021-05-11T23:52:23Z</dcterms:modified>
</cp:coreProperties>
</file>